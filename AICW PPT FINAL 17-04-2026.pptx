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1" r:id="rId2"/>
  </p:sldMasterIdLst>
  <p:notesMasterIdLst>
    <p:notesMasterId r:id="rId15"/>
  </p:notesMasterIdLst>
  <p:sldIdLst>
    <p:sldId id="290" r:id="rId3"/>
    <p:sldId id="277" r:id="rId4"/>
    <p:sldId id="281" r:id="rId5"/>
    <p:sldId id="284" r:id="rId6"/>
    <p:sldId id="285" r:id="rId7"/>
    <p:sldId id="272" r:id="rId8"/>
    <p:sldId id="291" r:id="rId9"/>
    <p:sldId id="292" r:id="rId10"/>
    <p:sldId id="263" r:id="rId11"/>
    <p:sldId id="287" r:id="rId12"/>
    <p:sldId id="289" r:id="rId13"/>
    <p:sldId id="266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ni rani" userId="75ce9592e6dd6fd4" providerId="LiveId" clId="{6EFB7FD5-608A-43E9-9DF1-EAA8435C7BA2}"/>
    <pc:docChg chg="undo custSel modSld">
      <pc:chgData name="chandni rani" userId="75ce9592e6dd6fd4" providerId="LiveId" clId="{6EFB7FD5-608A-43E9-9DF1-EAA8435C7BA2}" dt="2026-04-17T03:40:10.032" v="21" actId="14100"/>
      <pc:docMkLst>
        <pc:docMk/>
      </pc:docMkLst>
      <pc:sldChg chg="modSp mod">
        <pc:chgData name="chandni rani" userId="75ce9592e6dd6fd4" providerId="LiveId" clId="{6EFB7FD5-608A-43E9-9DF1-EAA8435C7BA2}" dt="2026-04-17T03:39:33.600" v="17" actId="20577"/>
        <pc:sldMkLst>
          <pc:docMk/>
          <pc:sldMk cId="2797075010" sldId="281"/>
        </pc:sldMkLst>
        <pc:spChg chg="mod">
          <ac:chgData name="chandni rani" userId="75ce9592e6dd6fd4" providerId="LiveId" clId="{6EFB7FD5-608A-43E9-9DF1-EAA8435C7BA2}" dt="2026-04-17T03:39:02.266" v="10" actId="14100"/>
          <ac:spMkLst>
            <pc:docMk/>
            <pc:sldMk cId="2797075010" sldId="281"/>
            <ac:spMk id="2" creationId="{8AAAEBE1-9595-0D57-F6A2-C5ACD16BF2F9}"/>
          </ac:spMkLst>
        </pc:spChg>
        <pc:spChg chg="mod">
          <ac:chgData name="chandni rani" userId="75ce9592e6dd6fd4" providerId="LiveId" clId="{6EFB7FD5-608A-43E9-9DF1-EAA8435C7BA2}" dt="2026-04-17T03:39:33.600" v="17" actId="20577"/>
          <ac:spMkLst>
            <pc:docMk/>
            <pc:sldMk cId="2797075010" sldId="281"/>
            <ac:spMk id="5" creationId="{B3A1F275-8409-935C-E316-175A52BE605A}"/>
          </ac:spMkLst>
        </pc:spChg>
      </pc:sldChg>
      <pc:sldChg chg="modSp mod">
        <pc:chgData name="chandni rani" userId="75ce9592e6dd6fd4" providerId="LiveId" clId="{6EFB7FD5-608A-43E9-9DF1-EAA8435C7BA2}" dt="2026-04-17T03:40:10.032" v="21" actId="14100"/>
        <pc:sldMkLst>
          <pc:docMk/>
          <pc:sldMk cId="2795615525" sldId="284"/>
        </pc:sldMkLst>
        <pc:spChg chg="mod">
          <ac:chgData name="chandni rani" userId="75ce9592e6dd6fd4" providerId="LiveId" clId="{6EFB7FD5-608A-43E9-9DF1-EAA8435C7BA2}" dt="2026-04-17T03:40:01.856" v="18" actId="14100"/>
          <ac:spMkLst>
            <pc:docMk/>
            <pc:sldMk cId="2795615525" sldId="284"/>
            <ac:spMk id="6" creationId="{EFFF12F4-601D-2FCC-D634-B7B2419560A4}"/>
          </ac:spMkLst>
        </pc:spChg>
        <pc:picChg chg="mod">
          <ac:chgData name="chandni rani" userId="75ce9592e6dd6fd4" providerId="LiveId" clId="{6EFB7FD5-608A-43E9-9DF1-EAA8435C7BA2}" dt="2026-04-17T03:40:10.032" v="21" actId="14100"/>
          <ac:picMkLst>
            <pc:docMk/>
            <pc:sldMk cId="2795615525" sldId="284"/>
            <ac:picMk id="2" creationId="{450BD86F-4DE8-F492-AE42-EFEF0F776639}"/>
          </ac:picMkLst>
        </pc:picChg>
      </pc:sldChg>
      <pc:sldChg chg="modSp mod">
        <pc:chgData name="chandni rani" userId="75ce9592e6dd6fd4" providerId="LiveId" clId="{6EFB7FD5-608A-43E9-9DF1-EAA8435C7BA2}" dt="2026-04-17T03:37:57.754" v="5" actId="20577"/>
        <pc:sldMkLst>
          <pc:docMk/>
          <pc:sldMk cId="1737770917" sldId="290"/>
        </pc:sldMkLst>
        <pc:graphicFrameChg chg="modGraphic">
          <ac:chgData name="chandni rani" userId="75ce9592e6dd6fd4" providerId="LiveId" clId="{6EFB7FD5-608A-43E9-9DF1-EAA8435C7BA2}" dt="2026-04-17T03:37:57.754" v="5" actId="20577"/>
          <ac:graphicFrameMkLst>
            <pc:docMk/>
            <pc:sldMk cId="1737770917" sldId="290"/>
            <ac:graphicFrameMk id="27" creationId="{B1DD4DF5-A185-9BB4-AA4F-1213471A606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74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8539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5A447-1EBF-EA05-4829-3E6E03A3C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27723-6531-5274-03EA-370BB0D4E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2FB1B-1BAB-8A7F-2B56-B85F2E50E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575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1DE48-85DC-F7AA-0FC3-8D6E7363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87EFD-AFA4-88F9-7AD0-2F53DB308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93EF0-2CA5-DAAB-201D-CAC57BCB3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F5FE3-82E3-1ECF-39C2-2C7E0C3A7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80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37FCD-7054-A43B-AD8E-F177ECFDF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0B6E6-59FB-07CB-BD55-685062131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4A842-DBCA-6D91-7BC3-6EA8CC943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196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1BF14-94BB-6762-D819-8FB50256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7C8A4-94D6-6DD7-83C6-8F1BE1747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35DA3-0B58-A667-98D0-45B6A77E5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15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251343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284087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56407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6714837"/>
            <a:ext cx="12192000" cy="143164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1867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5"/>
                </a:lnSpc>
              </a:pPr>
              <a:endParaRPr sz="1867"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12192000" cy="565608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1867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5"/>
                </a:lnSpc>
              </a:pPr>
              <a:endParaRPr sz="1867"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427595" y="73556"/>
            <a:ext cx="1286781" cy="418497"/>
          </a:xfrm>
          <a:prstGeom prst="rect">
            <a:avLst/>
          </a:prstGeom>
        </p:spPr>
      </p:pic>
    </p:spTree>
    <p:custDataLst>
      <p:tags r:id="rId4"/>
    </p:custDataLst>
    <p:extLst>
      <p:ext uri="{BB962C8B-B14F-4D97-AF65-F5344CB8AC3E}">
        <p14:creationId xmlns:p14="http://schemas.microsoft.com/office/powerpoint/2010/main" val="26339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486510" y="870545"/>
            <a:ext cx="4804444" cy="646695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5537824" cy="168237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6689763"/>
            <a:ext cx="10095059" cy="168237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4882359" y="-705329"/>
            <a:ext cx="6136427" cy="2831009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7509811" y="405228"/>
            <a:ext cx="4965443" cy="1419192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10037624" y="-1190421"/>
            <a:ext cx="3831945" cy="2622695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9009120" y="5338265"/>
            <a:ext cx="6136427" cy="2831009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10456261" y="4896693"/>
            <a:ext cx="2889265" cy="1501585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7627329" y="1025313"/>
            <a:ext cx="4634283" cy="4634283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39260" tIns="39260" rIns="39260" bIns="3926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9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6419755" y="657084"/>
            <a:ext cx="1142752" cy="212837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93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11247916" y="5843838"/>
            <a:ext cx="1142752" cy="212837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93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11635011" y="6096000"/>
            <a:ext cx="1142752" cy="212837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93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25343" y="3904901"/>
            <a:ext cx="5701512" cy="574773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IN" sz="93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177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93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8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5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67" b="1" i="0" u="none" strike="noStrike" kern="0" cap="none" spc="777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6105605" y="5731473"/>
            <a:ext cx="2177909" cy="202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6089188" y="5924902"/>
            <a:ext cx="2177909" cy="306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D358D"/>
                </a:solidFill>
                <a:effectLst/>
                <a:uLnTx/>
                <a:uFillTx/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Dr. Chandni Rani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5503489" y="5722208"/>
            <a:ext cx="527108" cy="509060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2957373" y="5807573"/>
            <a:ext cx="2413304" cy="41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</a:p>
          <a:p>
            <a:pPr marL="0" marR="0" lvl="0" indent="0" algn="l" defTabSz="914400" rtl="0" eaLnBrk="1" fontAlgn="auto" latinLnBrk="0" hangingPunct="1"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Chandniarora0007@gmail.com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390305" y="5757076"/>
            <a:ext cx="531039" cy="519625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608455" y="5777671"/>
            <a:ext cx="3030495" cy="521812"/>
            <a:chOff x="3139699" y="4295282"/>
            <a:chExt cx="2272871" cy="39135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18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7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333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7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Umamaheswari</a:t>
              </a:r>
              <a:r>
                <a: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 R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D358D"/>
                </a:solidFill>
                <a:effectLst/>
                <a:uLnTx/>
                <a:uFillTx/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24679" y="5796499"/>
            <a:ext cx="501087" cy="508084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854311" y="1026330"/>
            <a:ext cx="4068840" cy="344821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7737101" y="3079217"/>
            <a:ext cx="3779520" cy="14630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8195151" y="3218277"/>
            <a:ext cx="3291840" cy="14630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8642835" y="3371573"/>
            <a:ext cx="2804160" cy="14630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8980951" y="3529632"/>
            <a:ext cx="2496061" cy="155025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231673" y="1395409"/>
            <a:ext cx="5139004" cy="246604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83CBEF9-483C-E6D9-84ED-AB9F281426D7}"/>
              </a:ext>
            </a:extLst>
          </p:cNvPr>
          <p:cNvSpPr/>
          <p:nvPr/>
        </p:nvSpPr>
        <p:spPr>
          <a:xfrm>
            <a:off x="381000" y="4707761"/>
            <a:ext cx="5632447" cy="41541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IN" b="1" kern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Willing but Wary Developer: AI Adoption, Trust Deficit, and Ethical Anxiety in Software Engineering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1DD4DF5-A185-9BB4-AA4F-1213471A6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015798"/>
              </p:ext>
            </p:extLst>
          </p:nvPr>
        </p:nvGraphicFramePr>
        <p:xfrm>
          <a:off x="-358174" y="4689556"/>
          <a:ext cx="6559036" cy="640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559036">
                  <a:extLst>
                    <a:ext uri="{9D8B030D-6E8A-4147-A177-3AD203B41FA5}">
                      <a16:colId xmlns:a16="http://schemas.microsoft.com/office/drawing/2014/main" val="3438802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</a:t>
                      </a:r>
                      <a:r>
                        <a:rPr lang="en-IN" sz="1800" b="1" dirty="0"/>
                        <a:t>he Willing But Wary Developers: AI Adoption, Trust Deficit, and Ethical Anxiety in software Engineering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953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37770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73800" y="813623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667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66985" y="1781113"/>
            <a:ext cx="5929015" cy="329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792" indent="-304792">
              <a:spcAft>
                <a:spcPts val="1067"/>
              </a:spcAft>
              <a:buFont typeface="Arial" panose="020B0604020202020204" pitchFamily="34" charset="0"/>
              <a:buChar char="•"/>
              <a:tabLst>
                <a:tab pos="5638659" algn="ctr"/>
              </a:tabLst>
            </a:pP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04792" indent="-304792">
              <a:spcAft>
                <a:spcPts val="1067"/>
              </a:spcAft>
              <a:buFont typeface="Arial" panose="020B0604020202020204" pitchFamily="34" charset="0"/>
              <a:buChar char="•"/>
              <a:tabLst>
                <a:tab pos="5638659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304792" indent="-304792">
              <a:spcAft>
                <a:spcPts val="1067"/>
              </a:spcAft>
              <a:buFont typeface="Arial" panose="020B0604020202020204" pitchFamily="34" charset="0"/>
              <a:buChar char="•"/>
              <a:tabLst>
                <a:tab pos="5638659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304792" indent="-304792">
              <a:spcAft>
                <a:spcPts val="1067"/>
              </a:spcAft>
              <a:buFont typeface="Arial" panose="020B0604020202020204" pitchFamily="34" charset="0"/>
              <a:buChar char="•"/>
              <a:tabLst>
                <a:tab pos="5638659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304792" indent="-304792">
              <a:spcAft>
                <a:spcPts val="1067"/>
              </a:spcAft>
              <a:buFont typeface="Arial" panose="020B0604020202020204" pitchFamily="34" charset="0"/>
              <a:buChar char="•"/>
              <a:tabLst>
                <a:tab pos="5638659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304792" indent="-304792">
              <a:spcAft>
                <a:spcPts val="1067"/>
              </a:spcAft>
              <a:buFont typeface="Arial" panose="020B0604020202020204" pitchFamily="34" charset="0"/>
              <a:buChar char="•"/>
              <a:tabLst>
                <a:tab pos="5638659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304792" indent="-304792">
              <a:spcAft>
                <a:spcPts val="1067"/>
              </a:spcAft>
              <a:buFont typeface="Arial" panose="020B0604020202020204" pitchFamily="34" charset="0"/>
              <a:buChar char="•"/>
              <a:tabLst>
                <a:tab pos="5638659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304792" indent="-304792">
              <a:spcAft>
                <a:spcPts val="1067"/>
              </a:spcAft>
              <a:buFont typeface="Arial" panose="020B0604020202020204" pitchFamily="34" charset="0"/>
              <a:buChar char="•"/>
              <a:tabLst>
                <a:tab pos="5638659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7171766" y="1379101"/>
            <a:ext cx="3824941" cy="4386729"/>
          </a:xfrm>
          <a:prstGeom prst="rect">
            <a:avLst/>
          </a:prstGeom>
        </p:spPr>
      </p:pic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85490-6B1A-3AF7-7296-455B4DA24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93DEB7-E159-3AEE-9FCA-D45A14227C2F}"/>
              </a:ext>
            </a:extLst>
          </p:cNvPr>
          <p:cNvSpPr txBox="1"/>
          <p:nvPr/>
        </p:nvSpPr>
        <p:spPr>
          <a:xfrm>
            <a:off x="1524" y="573060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B3A6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SemiBold"/>
              </a:rPr>
              <a:t>Abstract</a:t>
            </a:r>
            <a:endParaRPr lang="en-US" sz="20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1F275-8409-935C-E316-175A52BE605A}"/>
              </a:ext>
            </a:extLst>
          </p:cNvPr>
          <p:cNvSpPr txBox="1"/>
          <p:nvPr/>
        </p:nvSpPr>
        <p:spPr>
          <a:xfrm>
            <a:off x="-1" y="1021961"/>
            <a:ext cx="8585201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project identifies the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'AI Trust Paradox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’ phenomenon  — a multi-dimensional construct manifesting across three interconnected dimensions: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Use-despite-distrust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-where developers continue daily AI tool usage despite low trust in code accuracy.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adoption-ethics gap-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positive sentiments coexists with deep skepticism about AI ethics.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utility-threat tension-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developers acknowledge AI productivity benefits while simultaneously fearing job displacement.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By analyzing the Stack Overflow Developer Survey (N=48,195), we statistically proved the tension between the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necessity of AI adoption and the critical distrust of its outputs.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Tools &amp; Technologies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8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Excel +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Python </a:t>
            </a:r>
            <a:r>
              <a:rPr lang="en-US" sz="18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 Copilot+ </a:t>
            </a:r>
            <a:r>
              <a:rPr lang="en-US" sz="18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Github</a:t>
            </a:r>
            <a:endParaRPr lang="en-US" sz="18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endParaRPr lang="en-US" sz="18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Expected outcomes: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outcomes include the empirical validation of the "AI Trust Paradox," statistically proving the stark disconnect between high AI adoption and low user trust.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Highlights: </a:t>
            </a:r>
            <a:r>
              <a:rPr lang="en-US" sz="1800" dirty="0"/>
              <a:t>Statistically proves the massive decoupling of usage from trust, identifying a record-high </a:t>
            </a:r>
            <a:r>
              <a:rPr lang="en-US" sz="1800" b="1" dirty="0"/>
              <a:t>78.5% adoption rate</a:t>
            </a:r>
            <a:r>
              <a:rPr lang="en-US" sz="1800" dirty="0"/>
              <a:t> alongside a critical </a:t>
            </a:r>
            <a:r>
              <a:rPr lang="en-US" sz="1800" b="1" dirty="0"/>
              <a:t>3.1% high trust rate</a:t>
            </a:r>
            <a:r>
              <a:rPr lang="en-US" sz="1800" dirty="0"/>
              <a:t>.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1" dirty="0"/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8AAAEBE1-9595-0D57-F6A2-C5ACD16BF2F9}"/>
              </a:ext>
            </a:extLst>
          </p:cNvPr>
          <p:cNvSpPr/>
          <p:nvPr/>
        </p:nvSpPr>
        <p:spPr>
          <a:xfrm>
            <a:off x="8585200" y="2125218"/>
            <a:ext cx="3454400" cy="3335782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7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D0820-0A3A-0DDB-E2CF-9A1B0A93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299C8-20C7-9E71-0AD3-167E4E7F53DD}"/>
              </a:ext>
            </a:extLst>
          </p:cNvPr>
          <p:cNvSpPr txBox="1"/>
          <p:nvPr/>
        </p:nvSpPr>
        <p:spPr>
          <a:xfrm>
            <a:off x="-44958" y="485054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rgbClr val="1B3A6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SemiBold"/>
              </a:rPr>
              <a:t>Problem Statement</a:t>
            </a:r>
            <a:endParaRPr lang="en-US" sz="20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7CD6C-607F-D79F-3E24-794C8DCF53C4}"/>
              </a:ext>
            </a:extLst>
          </p:cNvPr>
          <p:cNvSpPr txBox="1"/>
          <p:nvPr/>
        </p:nvSpPr>
        <p:spPr>
          <a:xfrm>
            <a:off x="0" y="885164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F12F4-601D-2FCC-D634-B7B2419560A4}"/>
              </a:ext>
            </a:extLst>
          </p:cNvPr>
          <p:cNvSpPr txBox="1"/>
          <p:nvPr/>
        </p:nvSpPr>
        <p:spPr>
          <a:xfrm>
            <a:off x="0" y="1017634"/>
            <a:ext cx="739986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Core Problem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Breakdown of the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Technology Acceptance Model (TAM)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Trust is a prerequisite for adoption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the modern developer workflow, we see a "Forced Adoption" model.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Developers are adopting AI without Trust</a:t>
            </a:r>
          </a:p>
          <a:p>
            <a:pPr algn="just"/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Significance &amp; Challenge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Only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3.1%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of developers highly trust AI, yet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78.5%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use it daily.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creates a high cognitive load known as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"Verification Fatigue“</a:t>
            </a:r>
          </a:p>
          <a:p>
            <a:pPr algn="just"/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Who is Affected?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Individual Developers: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Faced with anxiety regarding job security </a:t>
            </a:r>
          </a:p>
          <a:p>
            <a:pPr algn="just"/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Tech Managers: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Struggling to balance team velocity with the risk of technical debt</a:t>
            </a:r>
          </a:p>
          <a:p>
            <a:pPr algn="just"/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Organizations: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Investing heavily in AI licenses without understanding the psychological barriers preventing their engineers from fully relying on these tools.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0BD86F-4DE8-F492-AE42-EFEF0F776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068" y="885164"/>
            <a:ext cx="4161488" cy="527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15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22664-7A0F-9EBD-3269-7176532F7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72212-6A00-3ECF-F7DE-CE12EC85CCBC}"/>
              </a:ext>
            </a:extLst>
          </p:cNvPr>
          <p:cNvSpPr txBox="1"/>
          <p:nvPr/>
        </p:nvSpPr>
        <p:spPr>
          <a:xfrm>
            <a:off x="1524" y="762053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rgbClr val="1B3A6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SemiBold"/>
              </a:rPr>
              <a:t>Proposed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00C2F-63AA-E8FE-D645-61F19E752801}"/>
              </a:ext>
            </a:extLst>
          </p:cNvPr>
          <p:cNvSpPr txBox="1"/>
          <p:nvPr/>
        </p:nvSpPr>
        <p:spPr>
          <a:xfrm>
            <a:off x="0" y="885164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598D6-9B1B-9FC6-4A56-E865545BAA54}"/>
              </a:ext>
            </a:extLst>
          </p:cNvPr>
          <p:cNvSpPr txBox="1"/>
          <p:nvPr/>
        </p:nvSpPr>
        <p:spPr>
          <a:xfrm>
            <a:off x="0" y="885164"/>
            <a:ext cx="1198778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/>
          </a:p>
          <a:p>
            <a:endParaRPr lang="en-US" sz="1800" dirty="0"/>
          </a:p>
          <a:p>
            <a:endParaRPr lang="en-US" sz="1800" dirty="0">
              <a:latin typeface="Leo"/>
            </a:endParaRPr>
          </a:p>
          <a:p>
            <a:endParaRPr lang="en-US" sz="1800" dirty="0">
              <a:latin typeface="Leo"/>
            </a:endParaRPr>
          </a:p>
          <a:p>
            <a:endParaRPr lang="en-US" sz="1800" dirty="0">
              <a:latin typeface="Leo"/>
            </a:endParaRPr>
          </a:p>
          <a:p>
            <a:endParaRPr lang="en-US" sz="1800" dirty="0">
              <a:latin typeface="Leo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4466A-1C23-F882-7282-0105EA2F2C2C}"/>
              </a:ext>
            </a:extLst>
          </p:cNvPr>
          <p:cNvSpPr txBox="1"/>
          <p:nvPr/>
        </p:nvSpPr>
        <p:spPr>
          <a:xfrm>
            <a:off x="117446" y="1325461"/>
            <a:ext cx="77178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 architect a comprehensive research framework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that investigates the "AI Trust Paradox" by validating the systematic decoupling of high adoption rates from low professional trust among 48,195 global developers.</a:t>
            </a:r>
          </a:p>
          <a:p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 design an interactive, zero-dependency dashboard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that visualizes complex human-centric metrics—including Verification Fatigue and the Adoption-Ethics Gap—across diverse career stages and geographic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 integrate a conversational AI agent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that transforms dense statistical results into accessible, actionable insights, enabling stakeholders to navigate paradoxical findings through natural language interaction.</a:t>
            </a:r>
          </a:p>
          <a:p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Methodology &amp; Tools: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Python (</a:t>
            </a:r>
            <a:r>
              <a:rPr lang="en-IN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Scipy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Pandas, </a:t>
            </a:r>
            <a:r>
              <a:rPr lang="en-IN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Numpy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), Excel, HTML, Microsoft Copilot Studio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CC43FC-4C84-EC5B-8B24-38109A074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317" y="1105678"/>
            <a:ext cx="3931920" cy="49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9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10245" y="770860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b="1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3877" y="1657600"/>
            <a:ext cx="5486400" cy="512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867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556437" y="1657600"/>
            <a:ext cx="426720" cy="512064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sz="1867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5797" y="1706368"/>
            <a:ext cx="5120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800" b="1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5797" y="2267200"/>
            <a:ext cx="536448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Stack Overflow Developer Survey 2025 — survey_results_public.csv (49,191 × 172). Public. </a:t>
            </a:r>
            <a:r>
              <a:rPr lang="en-US" sz="1800" dirty="0" err="1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Licence</a:t>
            </a:r>
            <a:r>
              <a:rPr lang="en-US" sz="18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: </a:t>
            </a:r>
            <a:r>
              <a:rPr lang="en-US" sz="1800" dirty="0" err="1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ODbL</a:t>
            </a:r>
            <a:r>
              <a:rPr lang="en-US" sz="18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 Source: survey.stackoverflow.co/2025 · Kaggle.</a:t>
            </a:r>
            <a:endParaRPr lang="en-US" sz="18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endParaRPr lang="en-US" sz="2133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26997" y="1657600"/>
            <a:ext cx="5486400" cy="512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2133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469557" y="1657600"/>
            <a:ext cx="426720" cy="512064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sz="1867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48917" y="1706368"/>
            <a:ext cx="5120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800" b="1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48917" y="2267200"/>
            <a:ext cx="536448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latin typeface="Leo"/>
              </a:rPr>
              <a:t>Using Python 3.10 running on Google </a:t>
            </a:r>
            <a:r>
              <a:rPr lang="en-US" sz="1800" dirty="0" err="1">
                <a:latin typeface="Leo"/>
              </a:rPr>
              <a:t>Colab</a:t>
            </a:r>
            <a:r>
              <a:rPr lang="en-US" sz="1800" dirty="0">
                <a:latin typeface="Leo"/>
              </a:rPr>
              <a:t>; Advanced data cleaning using </a:t>
            </a:r>
            <a:r>
              <a:rPr lang="en-US" sz="1800" b="1" dirty="0">
                <a:latin typeface="Leo"/>
              </a:rPr>
              <a:t>Pandas</a:t>
            </a:r>
            <a:r>
              <a:rPr lang="en-US" sz="1800" dirty="0">
                <a:latin typeface="Leo"/>
              </a:rPr>
              <a:t> and </a:t>
            </a:r>
            <a:r>
              <a:rPr lang="en-US" sz="1800" b="1" dirty="0">
                <a:latin typeface="Leo"/>
              </a:rPr>
              <a:t>NumPy libraries; </a:t>
            </a:r>
            <a:r>
              <a:rPr lang="en-US" sz="1800" dirty="0">
                <a:latin typeface="Leo"/>
              </a:rPr>
              <a:t>Utilization of </a:t>
            </a:r>
            <a:r>
              <a:rPr lang="en-US" sz="1800" b="1" dirty="0">
                <a:latin typeface="Leo"/>
              </a:rPr>
              <a:t>SciPy</a:t>
            </a:r>
            <a:r>
              <a:rPr lang="en-US" sz="1800" dirty="0">
                <a:latin typeface="Leo"/>
              </a:rPr>
              <a:t> for Chi-square and Cramér's V tests</a:t>
            </a:r>
            <a:endParaRPr lang="en-US" sz="1800" dirty="0">
              <a:latin typeface="Leo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2953" y="3995788"/>
            <a:ext cx="5486400" cy="512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867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82633" y="3975960"/>
            <a:ext cx="426720" cy="512064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sz="1867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5797" y="4093324"/>
            <a:ext cx="5120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8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5797" y="4569408"/>
            <a:ext cx="536448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2133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26997" y="3959808"/>
            <a:ext cx="5486400" cy="512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867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469557" y="3959808"/>
            <a:ext cx="426720" cy="512064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sz="1867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48917" y="4008576"/>
            <a:ext cx="5120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8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48917" y="4569408"/>
            <a:ext cx="536448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800" b="1" dirty="0">
                <a:latin typeface="Leo"/>
              </a:rPr>
              <a:t>Interactive Dashboard:</a:t>
            </a:r>
            <a:r>
              <a:rPr lang="en-IN" sz="1800" dirty="0">
                <a:latin typeface="Leo"/>
              </a:rPr>
              <a:t> Single-file, zero-dependency HTML 4 pages (overview + 3 Paradox) </a:t>
            </a:r>
          </a:p>
          <a:p>
            <a:r>
              <a:rPr lang="en-IN" sz="1800" dirty="0">
                <a:latin typeface="Leo"/>
              </a:rPr>
              <a:t>Cleaned excel dataset with schema</a:t>
            </a:r>
          </a:p>
          <a:p>
            <a:r>
              <a:rPr lang="en-US" sz="1800" b="1" dirty="0">
                <a:latin typeface="Leo"/>
              </a:rPr>
              <a:t>GitHub</a:t>
            </a:r>
            <a:r>
              <a:rPr lang="en-US" sz="1800" dirty="0">
                <a:latin typeface="Leo"/>
              </a:rPr>
              <a:t> repository for version control, project documentation (final project report), and final deployment</a:t>
            </a:r>
            <a:r>
              <a:rPr lang="en-US" sz="1800" dirty="0"/>
              <a:t>.</a:t>
            </a:r>
            <a:endParaRPr lang="en-US" sz="18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53957-B942-B997-9552-FA2A7795D3A3}"/>
              </a:ext>
            </a:extLst>
          </p:cNvPr>
          <p:cNvSpPr txBox="1"/>
          <p:nvPr/>
        </p:nvSpPr>
        <p:spPr>
          <a:xfrm>
            <a:off x="297249" y="468833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latin typeface="Leo"/>
              </a:rPr>
              <a:t>Custom AI Agent built via </a:t>
            </a:r>
            <a:r>
              <a:rPr lang="it-IT" sz="1800" b="1" dirty="0">
                <a:latin typeface="Leo"/>
              </a:rPr>
              <a:t>Microsoft Copilot Studio</a:t>
            </a:r>
            <a:endParaRPr lang="en-IN" sz="1800" dirty="0">
              <a:latin typeface="Leo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592759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667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982199"/>
            <a:ext cx="11216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sz="1867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04544" y="2197649"/>
            <a:ext cx="1828800" cy="18288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867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59" y="4403718"/>
            <a:ext cx="3968496" cy="2090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Overview-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dashboard provides a high-level snapshot of the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Trust Paradox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showing that while AI adoption is very high (78.5%), trust remains extremely low (3.1%) with significant distrust and ethical gaps. </a:t>
            </a:r>
          </a:p>
        </p:txBody>
      </p:sp>
      <p:sp>
        <p:nvSpPr>
          <p:cNvPr id="14" name="Shape 12"/>
          <p:cNvSpPr/>
          <p:nvPr/>
        </p:nvSpPr>
        <p:spPr>
          <a:xfrm>
            <a:off x="4291584" y="3574991"/>
            <a:ext cx="3718560" cy="2889859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sz="1867" dirty="0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27164" y="4372058"/>
            <a:ext cx="3998805" cy="2090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Paradox1-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Even active AI users exhibit significant distrust toward outputs, proving that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usage and trust are decoupled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It highlights how distrust persists across user groups, experience levels, and geographies despite widespread adoption.</a:t>
            </a:r>
          </a:p>
        </p:txBody>
      </p:sp>
      <p:sp>
        <p:nvSpPr>
          <p:cNvPr id="18" name="Text 16"/>
          <p:cNvSpPr/>
          <p:nvPr/>
        </p:nvSpPr>
        <p:spPr>
          <a:xfrm>
            <a:off x="9156192" y="2197649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48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11312" y="4363720"/>
            <a:ext cx="3718560" cy="22196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Paradox2-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Adoption–Ethics Gap: This page reveals that while developers have strong positive sentiment toward AI (61%), their trust in its outputs is much lower (32.6%), creating a clear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ethics gap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</p:txBody>
      </p:sp>
      <p:sp>
        <p:nvSpPr>
          <p:cNvPr id="21" name="Text 19"/>
          <p:cNvSpPr/>
          <p:nvPr/>
        </p:nvSpPr>
        <p:spPr>
          <a:xfrm>
            <a:off x="8400288" y="3603093"/>
            <a:ext cx="3352800" cy="2118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133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8637A3-91C8-4069-AD42-EE72709B9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088" y="1419918"/>
            <a:ext cx="3838057" cy="29521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CF9E8B-7EC8-34E0-1D56-4D559357B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837" y="1408920"/>
            <a:ext cx="3865035" cy="2994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25AAC0-8925-8B85-0FA9-0D14FAAB0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" y="1408919"/>
            <a:ext cx="3968497" cy="299479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D23BF-7BD8-11B8-4CE0-0110FF2A6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A191339-4155-B46F-A553-6ED44536B964}"/>
              </a:ext>
            </a:extLst>
          </p:cNvPr>
          <p:cNvSpPr/>
          <p:nvPr/>
        </p:nvSpPr>
        <p:spPr>
          <a:xfrm>
            <a:off x="0" y="592759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 </a:t>
            </a:r>
            <a:endParaRPr lang="en-US" sz="2667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5294084-8F6A-24CE-B0A3-D85806410B59}"/>
              </a:ext>
            </a:extLst>
          </p:cNvPr>
          <p:cNvSpPr/>
          <p:nvPr/>
        </p:nvSpPr>
        <p:spPr>
          <a:xfrm>
            <a:off x="0" y="982199"/>
            <a:ext cx="11216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sz="1867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EC33E8F-66E6-2CED-30FA-468951CEE621}"/>
              </a:ext>
            </a:extLst>
          </p:cNvPr>
          <p:cNvSpPr/>
          <p:nvPr/>
        </p:nvSpPr>
        <p:spPr>
          <a:xfrm>
            <a:off x="1304544" y="2197649"/>
            <a:ext cx="1828800" cy="18288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867">
              <a:latin typeface="Lato" panose="020F0502020204030203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3EBBF0E-4D1E-4F9A-CDE3-0DF6D40B16F3}"/>
              </a:ext>
            </a:extLst>
          </p:cNvPr>
          <p:cNvSpPr/>
          <p:nvPr/>
        </p:nvSpPr>
        <p:spPr>
          <a:xfrm>
            <a:off x="103632" y="4026449"/>
            <a:ext cx="3968496" cy="26233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Paradox 3-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Utility–Threat Tension: This page shows that while AI improves productivity, perceived job threat is rising, with a declining share of developers feeling safe and many considering career changes. </a:t>
            </a:r>
            <a:r>
              <a:rPr lang="en-US" sz="1800" dirty="0"/>
              <a:t>It highlights the growing tension where AI is both a </a:t>
            </a:r>
            <a:r>
              <a:rPr lang="en-US" sz="1800" b="1" dirty="0"/>
              <a:t>helper and a potential threat</a:t>
            </a:r>
            <a:r>
              <a:rPr lang="en-US" sz="1800" dirty="0"/>
              <a:t> to job security.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D3E0E68-4568-A998-DF4F-9816C9666A44}"/>
              </a:ext>
            </a:extLst>
          </p:cNvPr>
          <p:cNvSpPr/>
          <p:nvPr/>
        </p:nvSpPr>
        <p:spPr>
          <a:xfrm>
            <a:off x="4261104" y="3968142"/>
            <a:ext cx="3718560" cy="2704824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Chatbot-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setup showcases a tailored AI assistant built on the Stack Overflow Developer Survey 2025, designed to provide domain-specific insights on developer behavior, AI adoption, and trends through interactive, real-time querying.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9640783-E5EE-8112-CD07-86E3968769D8}"/>
              </a:ext>
            </a:extLst>
          </p:cNvPr>
          <p:cNvSpPr/>
          <p:nvPr/>
        </p:nvSpPr>
        <p:spPr>
          <a:xfrm>
            <a:off x="4194048" y="3664627"/>
            <a:ext cx="3931921" cy="2918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867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FC246C1-7185-7A6B-2EE2-85CBE24AA011}"/>
              </a:ext>
            </a:extLst>
          </p:cNvPr>
          <p:cNvSpPr/>
          <p:nvPr/>
        </p:nvSpPr>
        <p:spPr>
          <a:xfrm>
            <a:off x="9156192" y="2197649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4800" dirty="0">
              <a:latin typeface="Lato" panose="020F0502020204030203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034085E-B97C-5236-FFFD-C8915D235458}"/>
              </a:ext>
            </a:extLst>
          </p:cNvPr>
          <p:cNvSpPr/>
          <p:nvPr/>
        </p:nvSpPr>
        <p:spPr>
          <a:xfrm>
            <a:off x="8211312" y="3987865"/>
            <a:ext cx="3718560" cy="27004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Chatbot-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repository hosts the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Trust Paradox project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including datasets, dashboards, reports. It serves as a centralized hub for exploring analysis, code, and outputs related to this project.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4C5AA48-D2A4-7833-BDC9-6D62D1D24F23}"/>
              </a:ext>
            </a:extLst>
          </p:cNvPr>
          <p:cNvSpPr/>
          <p:nvPr/>
        </p:nvSpPr>
        <p:spPr>
          <a:xfrm>
            <a:off x="8400288" y="3603093"/>
            <a:ext cx="3352800" cy="2118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133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9A8F7-76B0-80BB-076D-2786693BC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08919"/>
            <a:ext cx="4090416" cy="2617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9AB209-4DCC-DE77-186A-7F87EAC94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797" y="1408919"/>
            <a:ext cx="3864694" cy="2559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51068C-0AF9-1EE7-9EBB-2A984A44E4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123" y="1349225"/>
            <a:ext cx="3728432" cy="25592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189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6720" y="829056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933" dirty="0"/>
          </a:p>
        </p:txBody>
      </p:sp>
      <p:sp>
        <p:nvSpPr>
          <p:cNvPr id="6" name="Shape 4"/>
          <p:cNvSpPr/>
          <p:nvPr/>
        </p:nvSpPr>
        <p:spPr>
          <a:xfrm>
            <a:off x="487680" y="914400"/>
            <a:ext cx="11216640" cy="530352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 sz="1867"/>
          </a:p>
        </p:txBody>
      </p:sp>
      <p:sp>
        <p:nvSpPr>
          <p:cNvPr id="7" name="Shape 5"/>
          <p:cNvSpPr/>
          <p:nvPr/>
        </p:nvSpPr>
        <p:spPr>
          <a:xfrm>
            <a:off x="487680" y="914400"/>
            <a:ext cx="11216640" cy="51206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 sz="1867"/>
          </a:p>
        </p:txBody>
      </p:sp>
      <p:sp>
        <p:nvSpPr>
          <p:cNvPr id="8" name="Shape 6"/>
          <p:cNvSpPr/>
          <p:nvPr/>
        </p:nvSpPr>
        <p:spPr>
          <a:xfrm>
            <a:off x="670560" y="1036320"/>
            <a:ext cx="219456" cy="21945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 sz="1867"/>
          </a:p>
        </p:txBody>
      </p:sp>
      <p:sp>
        <p:nvSpPr>
          <p:cNvPr id="9" name="Shape 7"/>
          <p:cNvSpPr/>
          <p:nvPr/>
        </p:nvSpPr>
        <p:spPr>
          <a:xfrm>
            <a:off x="975360" y="1036320"/>
            <a:ext cx="219456" cy="21945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 sz="1867"/>
          </a:p>
        </p:txBody>
      </p:sp>
      <p:sp>
        <p:nvSpPr>
          <p:cNvPr id="10" name="Shape 8"/>
          <p:cNvSpPr/>
          <p:nvPr/>
        </p:nvSpPr>
        <p:spPr>
          <a:xfrm>
            <a:off x="1280160" y="1036320"/>
            <a:ext cx="219456" cy="21945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 sz="1867"/>
          </a:p>
        </p:txBody>
      </p:sp>
      <p:sp>
        <p:nvSpPr>
          <p:cNvPr id="11" name="Shape 9"/>
          <p:cNvSpPr/>
          <p:nvPr/>
        </p:nvSpPr>
        <p:spPr>
          <a:xfrm>
            <a:off x="1828800" y="1036320"/>
            <a:ext cx="6705600" cy="2682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sz="1867"/>
          </a:p>
        </p:txBody>
      </p:sp>
      <p:sp>
        <p:nvSpPr>
          <p:cNvPr id="12" name="Text 10"/>
          <p:cNvSpPr/>
          <p:nvPr/>
        </p:nvSpPr>
        <p:spPr>
          <a:xfrm>
            <a:off x="1853184" y="1024128"/>
            <a:ext cx="6656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98720" y="2438400"/>
            <a:ext cx="2194560" cy="219456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 sz="1867"/>
          </a:p>
        </p:txBody>
      </p:sp>
      <p:sp>
        <p:nvSpPr>
          <p:cNvPr id="14" name="Text 12"/>
          <p:cNvSpPr/>
          <p:nvPr/>
        </p:nvSpPr>
        <p:spPr>
          <a:xfrm>
            <a:off x="4998720" y="243840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400" dirty="0">
                <a:solidFill>
                  <a:srgbClr val="FFFFFF"/>
                </a:solidFill>
              </a:rPr>
              <a:t>▶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1219200" y="5059680"/>
            <a:ext cx="97536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467" dirty="0"/>
          </a:p>
          <a:p>
            <a:pPr algn="ctr"/>
            <a:r>
              <a:rPr lang="en-US" sz="1467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467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D977B-662C-578E-8AA7-3D31AA8AC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2EA083-62CA-8736-F545-D6E08E8E69A0}"/>
              </a:ext>
            </a:extLst>
          </p:cNvPr>
          <p:cNvSpPr txBox="1"/>
          <p:nvPr/>
        </p:nvSpPr>
        <p:spPr>
          <a:xfrm>
            <a:off x="0" y="885164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88759-D0FA-8C85-3064-5BA52974BFCA}"/>
              </a:ext>
            </a:extLst>
          </p:cNvPr>
          <p:cNvSpPr txBox="1"/>
          <p:nvPr/>
        </p:nvSpPr>
        <p:spPr>
          <a:xfrm>
            <a:off x="0" y="885164"/>
            <a:ext cx="119877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o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o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o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o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30F31-3A79-D5D1-316C-52F973535B5B}"/>
              </a:ext>
            </a:extLst>
          </p:cNvPr>
          <p:cNvSpPr txBox="1"/>
          <p:nvPr/>
        </p:nvSpPr>
        <p:spPr>
          <a:xfrm>
            <a:off x="114300" y="751105"/>
            <a:ext cx="6117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B3A6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SemiBold"/>
              </a:rPr>
              <a:t>Conclusion</a:t>
            </a:r>
            <a:endParaRPr lang="en-US" sz="20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BC4398-AA5F-6136-7A75-16C6859FF279}"/>
              </a:ext>
            </a:extLst>
          </p:cNvPr>
          <p:cNvSpPr txBox="1"/>
          <p:nvPr/>
        </p:nvSpPr>
        <p:spPr>
          <a:xfrm>
            <a:off x="204217" y="1162163"/>
            <a:ext cx="811005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Results and Findings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Statistically proved that while </a:t>
            </a: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78.5%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of developers use AI daily, only </a:t>
            </a: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3.1%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maintain high trust in the output (chi^2 = 5,728.86, p &lt; 0.0001).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Senior developers (10+ years) exhibit significantly higher </a:t>
            </a: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"Verification Fatigue"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than junior peers.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Found that developers using </a:t>
            </a: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4+ tools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report a </a:t>
            </a: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47.5% distrust rate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proving that increased exposure to AI models highlights more failure modes.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</a:t>
            </a: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28.4% sentiment gap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exists where developers enjoy tool convenience but fundamentally doubt the underlying logic.</a:t>
            </a:r>
          </a:p>
          <a:p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Overall Impact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Shifted the focus of AI evaluation from </a:t>
            </a: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"Technical Benchmarks"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</a:t>
            </a: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"Human-Centric Sentiment,"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identifying trust as the primary bottleneck for long-term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Demonstrated a "circular" use case of AI: using Generative AI tools to </a:t>
            </a:r>
            <a:r>
              <a:rPr lang="en-IN" sz="1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explain the very paradoxes they have created in the workforce.</a:t>
            </a:r>
          </a:p>
          <a:p>
            <a:endParaRPr lang="en-IN" sz="18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Value Added to the Domain: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Provides organizations with a </a:t>
            </a: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human-centric metric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 AI success, moving beyond adoption numbers.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Offers a strategic blueprint for moving teams from </a:t>
            </a: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"Forced Adoption"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" name="Picture 1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81C68C50-076B-5052-0037-86EDC306EB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8119533" y="1888985"/>
            <a:ext cx="4232951" cy="330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22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EFB9E-CD27-F974-78D3-9CD4B3EB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BFB80B-59F9-87A8-37F0-DBF74ECA88DB}"/>
              </a:ext>
            </a:extLst>
          </p:cNvPr>
          <p:cNvSpPr txBox="1"/>
          <p:nvPr/>
        </p:nvSpPr>
        <p:spPr>
          <a:xfrm>
            <a:off x="0" y="885164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C905F-94C3-634F-EB02-DE4631220F5E}"/>
              </a:ext>
            </a:extLst>
          </p:cNvPr>
          <p:cNvSpPr txBox="1"/>
          <p:nvPr/>
        </p:nvSpPr>
        <p:spPr>
          <a:xfrm>
            <a:off x="0" y="885164"/>
            <a:ext cx="119877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o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o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o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o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BF5E0-D340-4A7F-BE9D-252E00E73AF4}"/>
              </a:ext>
            </a:extLst>
          </p:cNvPr>
          <p:cNvSpPr txBox="1"/>
          <p:nvPr/>
        </p:nvSpPr>
        <p:spPr>
          <a:xfrm>
            <a:off x="114300" y="751105"/>
            <a:ext cx="6117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B3A6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SemiBold"/>
              </a:rPr>
              <a:t>Future Scope</a:t>
            </a:r>
            <a:endParaRPr lang="en-US" sz="20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35B96F-898A-BDD4-16C6-8FA7AC372C6D}"/>
              </a:ext>
            </a:extLst>
          </p:cNvPr>
          <p:cNvSpPr txBox="1"/>
          <p:nvPr/>
        </p:nvSpPr>
        <p:spPr>
          <a:xfrm>
            <a:off x="0" y="1448521"/>
            <a:ext cx="70442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Longitudinal Panel Study: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Track the same developer cohort over three consecutive surveys to establish whether adoption drives distrust or vice versa via causal inference.</a:t>
            </a:r>
          </a:p>
          <a:p>
            <a:pPr lvl="0">
              <a:buSzPts val="1000"/>
              <a:tabLst>
                <a:tab pos="457200" algn="l"/>
              </a:tabLst>
            </a:pP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Structural Equation </a:t>
            </a:r>
            <a:r>
              <a:rPr lang="en-IN" sz="18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Modeling</a:t>
            </a: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(SEM):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Apply SEM to test the integrated TAM-CDT-JD-R model, confirming mediation and moderation paths (Expertise, Geography) simultaneously.</a:t>
            </a:r>
          </a:p>
          <a:p>
            <a:pPr lvl="0">
              <a:buSzPts val="1000"/>
              <a:tabLst>
                <a:tab pos="457200" algn="l"/>
              </a:tabLst>
            </a:pP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Qualitative Deep-Dive: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Conduct 20–30 in-depth interviews to understand the "lived experience" of the paradox and how developers rationalize daily use despite professional scepticism.</a:t>
            </a:r>
          </a:p>
          <a:p>
            <a:pPr lvl="0">
              <a:buSzPts val="1000"/>
              <a:tabLst>
                <a:tab pos="457200" algn="l"/>
              </a:tabLst>
            </a:pP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Real-Time Monitoring Ecosystem:</a:t>
            </a:r>
            <a:r>
              <a:rPr lang="en-IN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Deploy a Power Automate pipeline to auto-refresh the analytical dashboard as future survey datasets are released.</a:t>
            </a:r>
          </a:p>
          <a:p>
            <a:endParaRPr lang="en-IN" sz="1800" dirty="0">
              <a:latin typeface="Le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5ED84A-8017-A3DA-6214-8F61CD991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707" y="2351192"/>
            <a:ext cx="4281885" cy="321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670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4023360"/>
            <a:ext cx="975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spc="267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Faculty Project Presentation 2026</a:t>
            </a:r>
            <a:endParaRPr lang="en-US" sz="1867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4754880"/>
            <a:ext cx="9753600" cy="426720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/>
            <a:r>
              <a:rPr lang="en-US" sz="1467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467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467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467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3510643" y="2273727"/>
            <a:ext cx="5170715" cy="154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248"/>
              </a:lnSpc>
            </a:pPr>
            <a:r>
              <a:rPr lang="en-US" sz="6667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1210</Words>
  <Application>Microsoft Office PowerPoint</Application>
  <PresentationFormat>Widescreen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Symbol</vt:lpstr>
      <vt:lpstr>Lato</vt:lpstr>
      <vt:lpstr>Calibri</vt:lpstr>
      <vt:lpstr>Arial</vt:lpstr>
      <vt:lpstr>Leo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Chandni</dc:creator>
  <cp:lastModifiedBy>chandni rani</cp:lastModifiedBy>
  <cp:revision>11</cp:revision>
  <dcterms:modified xsi:type="dcterms:W3CDTF">2026-04-17T03:40:19Z</dcterms:modified>
</cp:coreProperties>
</file>