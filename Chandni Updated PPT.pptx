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tags/tag14.xml" ContentType="application/vnd.openxmlformats-officedocument.presentationml.tags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8" r:id="rId2"/>
    <p:sldId id="257" r:id="rId3"/>
    <p:sldId id="281" r:id="rId4"/>
    <p:sldId id="259" r:id="rId5"/>
    <p:sldId id="260" r:id="rId6"/>
    <p:sldId id="272" r:id="rId7"/>
    <p:sldId id="291" r:id="rId8"/>
    <p:sldId id="292" r:id="rId9"/>
    <p:sldId id="294" r:id="rId10"/>
    <p:sldId id="263" r:id="rId11"/>
    <p:sldId id="264" r:id="rId12"/>
    <p:sldId id="265" r:id="rId13"/>
    <p:sldId id="270" r:id="rId14"/>
    <p:sldId id="266" r:id="rId15"/>
  </p:sldIdLst>
  <p:sldSz cx="9144000" cy="5143500" type="screen16x9"/>
  <p:notesSz cx="5143500" cy="9144000"/>
  <p:custDataLst>
    <p:tags r:id="rId17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E3FA"/>
    <a:srgbClr val="FDF3ED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60" y="88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ni rani" userId="75ce9592e6dd6fd4" providerId="LiveId" clId="{6EFB7FD5-608A-43E9-9DF1-EAA8435C7BA2}"/>
    <pc:docChg chg="undo custSel addSld delSld modSld">
      <pc:chgData name="chandni rani" userId="75ce9592e6dd6fd4" providerId="LiveId" clId="{6EFB7FD5-608A-43E9-9DF1-EAA8435C7BA2}" dt="2026-04-25T16:04:25.722" v="206" actId="20577"/>
      <pc:docMkLst>
        <pc:docMk/>
      </pc:docMkLst>
      <pc:sldChg chg="addSp delSp modSp mod">
        <pc:chgData name="chandni rani" userId="75ce9592e6dd6fd4" providerId="LiveId" clId="{6EFB7FD5-608A-43E9-9DF1-EAA8435C7BA2}" dt="2026-04-25T08:45:28.282" v="70" actId="20577"/>
        <pc:sldMkLst>
          <pc:docMk/>
          <pc:sldMk cId="0" sldId="259"/>
        </pc:sldMkLst>
        <pc:spChg chg="mod">
          <ac:chgData name="chandni rani" userId="75ce9592e6dd6fd4" providerId="LiveId" clId="{6EFB7FD5-608A-43E9-9DF1-EAA8435C7BA2}" dt="2026-04-25T08:45:28.282" v="70" actId="20577"/>
          <ac:spMkLst>
            <pc:docMk/>
            <pc:sldMk cId="0" sldId="259"/>
            <ac:spMk id="6" creationId="{EE76AC24-5CB7-D860-6A01-E6D8ABD38610}"/>
          </ac:spMkLst>
        </pc:spChg>
        <pc:picChg chg="add mod">
          <ac:chgData name="chandni rani" userId="75ce9592e6dd6fd4" providerId="LiveId" clId="{6EFB7FD5-608A-43E9-9DF1-EAA8435C7BA2}" dt="2026-04-25T08:28:27.985" v="22" actId="14100"/>
          <ac:picMkLst>
            <pc:docMk/>
            <pc:sldMk cId="0" sldId="259"/>
            <ac:picMk id="2" creationId="{CA40A3CC-3232-5099-E668-21BBB979C66B}"/>
          </ac:picMkLst>
        </pc:picChg>
        <pc:picChg chg="del">
          <ac:chgData name="chandni rani" userId="75ce9592e6dd6fd4" providerId="LiveId" clId="{6EFB7FD5-608A-43E9-9DF1-EAA8435C7BA2}" dt="2026-04-25T08:28:04.703" v="15" actId="478"/>
          <ac:picMkLst>
            <pc:docMk/>
            <pc:sldMk cId="0" sldId="259"/>
            <ac:picMk id="1026" creationId="{07E4AD91-3578-B80F-8562-9829927B4748}"/>
          </ac:picMkLst>
        </pc:picChg>
      </pc:sldChg>
      <pc:sldChg chg="modSp mod">
        <pc:chgData name="chandni rani" userId="75ce9592e6dd6fd4" providerId="LiveId" clId="{6EFB7FD5-608A-43E9-9DF1-EAA8435C7BA2}" dt="2026-04-25T09:59:35.821" v="148" actId="20577"/>
        <pc:sldMkLst>
          <pc:docMk/>
          <pc:sldMk cId="0" sldId="260"/>
        </pc:sldMkLst>
        <pc:spChg chg="mod">
          <ac:chgData name="chandni rani" userId="75ce9592e6dd6fd4" providerId="LiveId" clId="{6EFB7FD5-608A-43E9-9DF1-EAA8435C7BA2}" dt="2026-04-25T09:59:35.821" v="148" actId="20577"/>
          <ac:spMkLst>
            <pc:docMk/>
            <pc:sldMk cId="0" sldId="260"/>
            <ac:spMk id="5" creationId="{00000000-0000-0000-0000-000000000000}"/>
          </ac:spMkLst>
        </pc:spChg>
      </pc:sldChg>
      <pc:sldChg chg="addSp delSp modSp mod delAnim modAnim">
        <pc:chgData name="chandni rani" userId="75ce9592e6dd6fd4" providerId="LiveId" clId="{6EFB7FD5-608A-43E9-9DF1-EAA8435C7BA2}" dt="2026-04-25T08:20:44.883" v="8"/>
        <pc:sldMkLst>
          <pc:docMk/>
          <pc:sldMk cId="0" sldId="263"/>
        </pc:sldMkLst>
        <pc:spChg chg="mod">
          <ac:chgData name="chandni rani" userId="75ce9592e6dd6fd4" providerId="LiveId" clId="{6EFB7FD5-608A-43E9-9DF1-EAA8435C7BA2}" dt="2026-04-25T05:56:36.864" v="5"/>
          <ac:spMkLst>
            <pc:docMk/>
            <pc:sldMk cId="0" sldId="263"/>
            <ac:spMk id="6" creationId="{00000000-0000-0000-0000-000000000000}"/>
          </ac:spMkLst>
        </pc:spChg>
        <pc:spChg chg="mod">
          <ac:chgData name="chandni rani" userId="75ce9592e6dd6fd4" providerId="LiveId" clId="{6EFB7FD5-608A-43E9-9DF1-EAA8435C7BA2}" dt="2026-04-25T08:20:44.883" v="8"/>
          <ac:spMkLst>
            <pc:docMk/>
            <pc:sldMk cId="0" sldId="263"/>
            <ac:spMk id="11" creationId="{00000000-0000-0000-0000-000000000000}"/>
          </ac:spMkLst>
        </pc:spChg>
        <pc:spChg chg="mod">
          <ac:chgData name="chandni rani" userId="75ce9592e6dd6fd4" providerId="LiveId" clId="{6EFB7FD5-608A-43E9-9DF1-EAA8435C7BA2}" dt="2026-04-25T05:45:17.904" v="0" actId="20577"/>
          <ac:spMkLst>
            <pc:docMk/>
            <pc:sldMk cId="0" sldId="263"/>
            <ac:spMk id="12" creationId="{00000000-0000-0000-0000-000000000000}"/>
          </ac:spMkLst>
        </pc:spChg>
        <pc:picChg chg="add del mod">
          <ac:chgData name="chandni rani" userId="75ce9592e6dd6fd4" providerId="LiveId" clId="{6EFB7FD5-608A-43E9-9DF1-EAA8435C7BA2}" dt="2026-04-25T05:52:58.423" v="2" actId="478"/>
          <ac:picMkLst>
            <pc:docMk/>
            <pc:sldMk cId="0" sldId="263"/>
            <ac:picMk id="2" creationId="{701BAF07-8331-7886-0889-75239CC7C6A9}"/>
          </ac:picMkLst>
        </pc:picChg>
      </pc:sldChg>
      <pc:sldChg chg="addSp delSp modSp mod">
        <pc:chgData name="chandni rani" userId="75ce9592e6dd6fd4" providerId="LiveId" clId="{6EFB7FD5-608A-43E9-9DF1-EAA8435C7BA2}" dt="2026-04-25T09:09:46.369" v="135" actId="5793"/>
        <pc:sldMkLst>
          <pc:docMk/>
          <pc:sldMk cId="0" sldId="264"/>
        </pc:sldMkLst>
        <pc:spChg chg="mod">
          <ac:chgData name="chandni rani" userId="75ce9592e6dd6fd4" providerId="LiveId" clId="{6EFB7FD5-608A-43E9-9DF1-EAA8435C7BA2}" dt="2026-04-25T09:09:46.369" v="135" actId="5793"/>
          <ac:spMkLst>
            <pc:docMk/>
            <pc:sldMk cId="0" sldId="264"/>
            <ac:spMk id="14" creationId="{00000000-0000-0000-0000-000000000000}"/>
          </ac:spMkLst>
        </pc:spChg>
        <pc:picChg chg="del">
          <ac:chgData name="chandni rani" userId="75ce9592e6dd6fd4" providerId="LiveId" clId="{6EFB7FD5-608A-43E9-9DF1-EAA8435C7BA2}" dt="2026-04-25T08:30:50.506" v="24" actId="478"/>
          <ac:picMkLst>
            <pc:docMk/>
            <pc:sldMk cId="0" sldId="264"/>
            <ac:picMk id="3" creationId="{84377C75-9DBB-F6C7-22FA-849A53D9114E}"/>
          </ac:picMkLst>
        </pc:picChg>
        <pc:picChg chg="del">
          <ac:chgData name="chandni rani" userId="75ce9592e6dd6fd4" providerId="LiveId" clId="{6EFB7FD5-608A-43E9-9DF1-EAA8435C7BA2}" dt="2026-04-25T08:30:52.174" v="25" actId="478"/>
          <ac:picMkLst>
            <pc:docMk/>
            <pc:sldMk cId="0" sldId="264"/>
            <ac:picMk id="6" creationId="{A0CD280A-D7C8-6103-B626-FD413A457203}"/>
          </ac:picMkLst>
        </pc:picChg>
        <pc:picChg chg="add mod">
          <ac:chgData name="chandni rani" userId="75ce9592e6dd6fd4" providerId="LiveId" clId="{6EFB7FD5-608A-43E9-9DF1-EAA8435C7BA2}" dt="2026-04-25T08:31:21.062" v="32" actId="1076"/>
          <ac:picMkLst>
            <pc:docMk/>
            <pc:sldMk cId="0" sldId="264"/>
            <ac:picMk id="2050" creationId="{F9AD1284-65DB-3FFD-BED0-41765A5F586A}"/>
          </ac:picMkLst>
        </pc:picChg>
      </pc:sldChg>
      <pc:sldChg chg="modSp mod">
        <pc:chgData name="chandni rani" userId="75ce9592e6dd6fd4" providerId="LiveId" clId="{6EFB7FD5-608A-43E9-9DF1-EAA8435C7BA2}" dt="2026-04-25T09:13:49.065" v="141" actId="20577"/>
        <pc:sldMkLst>
          <pc:docMk/>
          <pc:sldMk cId="0" sldId="265"/>
        </pc:sldMkLst>
        <pc:spChg chg="mod">
          <ac:chgData name="chandni rani" userId="75ce9592e6dd6fd4" providerId="LiveId" clId="{6EFB7FD5-608A-43E9-9DF1-EAA8435C7BA2}" dt="2026-04-25T09:13:49.065" v="141" actId="20577"/>
          <ac:spMkLst>
            <pc:docMk/>
            <pc:sldMk cId="0" sldId="265"/>
            <ac:spMk id="14" creationId="{00000000-0000-0000-0000-000000000000}"/>
          </ac:spMkLst>
        </pc:spChg>
        <pc:picChg chg="mod">
          <ac:chgData name="chandni rani" userId="75ce9592e6dd6fd4" providerId="LiveId" clId="{6EFB7FD5-608A-43E9-9DF1-EAA8435C7BA2}" dt="2026-04-25T08:32:31.996" v="38" actId="14100"/>
          <ac:picMkLst>
            <pc:docMk/>
            <pc:sldMk cId="0" sldId="265"/>
            <ac:picMk id="2" creationId="{412449DB-BF51-DAAE-EA83-F4C008967631}"/>
          </ac:picMkLst>
        </pc:picChg>
      </pc:sldChg>
      <pc:sldChg chg="modSp mod">
        <pc:chgData name="chandni rani" userId="75ce9592e6dd6fd4" providerId="LiveId" clId="{6EFB7FD5-608A-43E9-9DF1-EAA8435C7BA2}" dt="2026-04-25T08:23:10.422" v="11" actId="14734"/>
        <pc:sldMkLst>
          <pc:docMk/>
          <pc:sldMk cId="121223606" sldId="268"/>
        </pc:sldMkLst>
        <pc:graphicFrameChg chg="modGraphic">
          <ac:chgData name="chandni rani" userId="75ce9592e6dd6fd4" providerId="LiveId" clId="{6EFB7FD5-608A-43E9-9DF1-EAA8435C7BA2}" dt="2026-04-25T08:23:10.422" v="11" actId="14734"/>
          <ac:graphicFrameMkLst>
            <pc:docMk/>
            <pc:sldMk cId="121223606" sldId="268"/>
            <ac:graphicFrameMk id="26" creationId="{C81DED0E-8121-4A62-5E99-A69B8B50AA1B}"/>
          </ac:graphicFrameMkLst>
        </pc:graphicFrameChg>
      </pc:sldChg>
      <pc:sldChg chg="modSp mod">
        <pc:chgData name="chandni rani" userId="75ce9592e6dd6fd4" providerId="LiveId" clId="{6EFB7FD5-608A-43E9-9DF1-EAA8435C7BA2}" dt="2026-04-25T16:04:25.722" v="206" actId="20577"/>
        <pc:sldMkLst>
          <pc:docMk/>
          <pc:sldMk cId="0" sldId="272"/>
        </pc:sldMkLst>
        <pc:spChg chg="mod">
          <ac:chgData name="chandni rani" userId="75ce9592e6dd6fd4" providerId="LiveId" clId="{6EFB7FD5-608A-43E9-9DF1-EAA8435C7BA2}" dt="2026-04-25T15:57:48.575" v="170" actId="20577"/>
          <ac:spMkLst>
            <pc:docMk/>
            <pc:sldMk cId="0" sldId="272"/>
            <ac:spMk id="9" creationId="{00000000-0000-0000-0000-000000000000}"/>
          </ac:spMkLst>
        </pc:spChg>
        <pc:spChg chg="mod">
          <ac:chgData name="chandni rani" userId="75ce9592e6dd6fd4" providerId="LiveId" clId="{6EFB7FD5-608A-43E9-9DF1-EAA8435C7BA2}" dt="2026-04-25T16:04:25.722" v="206" actId="20577"/>
          <ac:spMkLst>
            <pc:docMk/>
            <pc:sldMk cId="0" sldId="272"/>
            <ac:spMk id="13" creationId="{00000000-0000-0000-0000-000000000000}"/>
          </ac:spMkLst>
        </pc:spChg>
        <pc:spChg chg="mod">
          <ac:chgData name="chandni rani" userId="75ce9592e6dd6fd4" providerId="LiveId" clId="{6EFB7FD5-608A-43E9-9DF1-EAA8435C7BA2}" dt="2026-04-25T08:34:59.818" v="64" actId="20577"/>
          <ac:spMkLst>
            <pc:docMk/>
            <pc:sldMk cId="0" sldId="272"/>
            <ac:spMk id="21" creationId="{00000000-0000-0000-0000-000000000000}"/>
          </ac:spMkLst>
        </pc:spChg>
      </pc:sldChg>
      <pc:sldChg chg="modSp mod">
        <pc:chgData name="chandni rani" userId="75ce9592e6dd6fd4" providerId="LiveId" clId="{6EFB7FD5-608A-43E9-9DF1-EAA8435C7BA2}" dt="2026-04-25T15:59:16.856" v="197" actId="20577"/>
        <pc:sldMkLst>
          <pc:docMk/>
          <pc:sldMk cId="2797075010" sldId="281"/>
        </pc:sldMkLst>
        <pc:spChg chg="mod">
          <ac:chgData name="chandni rani" userId="75ce9592e6dd6fd4" providerId="LiveId" clId="{6EFB7FD5-608A-43E9-9DF1-EAA8435C7BA2}" dt="2026-04-25T08:28:00.160" v="14" actId="14100"/>
          <ac:spMkLst>
            <pc:docMk/>
            <pc:sldMk cId="2797075010" sldId="281"/>
            <ac:spMk id="2" creationId="{8AAAEBE1-9595-0D57-F6A2-C5ACD16BF2F9}"/>
          </ac:spMkLst>
        </pc:spChg>
        <pc:spChg chg="mod">
          <ac:chgData name="chandni rani" userId="75ce9592e6dd6fd4" providerId="LiveId" clId="{6EFB7FD5-608A-43E9-9DF1-EAA8435C7BA2}" dt="2026-04-25T15:59:16.856" v="197" actId="20577"/>
          <ac:spMkLst>
            <pc:docMk/>
            <pc:sldMk cId="2797075010" sldId="281"/>
            <ac:spMk id="5" creationId="{B3A1F275-8409-935C-E316-175A52BE605A}"/>
          </ac:spMkLst>
        </pc:spChg>
      </pc:sldChg>
      <pc:sldChg chg="modSp mod">
        <pc:chgData name="chandni rani" userId="75ce9592e6dd6fd4" providerId="LiveId" clId="{6EFB7FD5-608A-43E9-9DF1-EAA8435C7BA2}" dt="2026-04-25T16:02:16.966" v="203" actId="14100"/>
        <pc:sldMkLst>
          <pc:docMk/>
          <pc:sldMk cId="1541894678" sldId="292"/>
        </pc:sldMkLst>
        <pc:spChg chg="mod">
          <ac:chgData name="chandni rani" userId="75ce9592e6dd6fd4" providerId="LiveId" clId="{6EFB7FD5-608A-43E9-9DF1-EAA8435C7BA2}" dt="2026-04-25T16:02:16.966" v="203" actId="14100"/>
          <ac:spMkLst>
            <pc:docMk/>
            <pc:sldMk cId="1541894678" sldId="292"/>
            <ac:spMk id="9" creationId="{F3EBBF0E-4D1E-4F9A-CDE3-0DF6D40B16F3}"/>
          </ac:spMkLst>
        </pc:spChg>
      </pc:sldChg>
      <pc:sldChg chg="new del">
        <pc:chgData name="chandni rani" userId="75ce9592e6dd6fd4" providerId="LiveId" clId="{6EFB7FD5-608A-43E9-9DF1-EAA8435C7BA2}" dt="2026-04-25T05:57:21.290" v="7" actId="47"/>
        <pc:sldMkLst>
          <pc:docMk/>
          <pc:sldMk cId="1902757430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874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1DE48-85DC-F7AA-0FC3-8D6E7363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87EFD-AFA4-88F9-7AD0-2F53DB308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93EF0-2CA5-DAAB-201D-CAC57BCB3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F5FE3-82E3-1ECF-39C2-2C7E0C3A7A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80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chandniarora0007-web.github.io/AICW-PROJECT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hyperlink" Target="https://drive.google.com/file/d/1iNyjNMm69QIyilITGbQ8vekkr5lMEUH-/view?usp=drive_link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 dirty="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5520962" y="436896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5413849" y="4491388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Dr Chandni Rani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5054306" y="4289261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2858761" y="4341881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2798507" y="4461904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Chandniarora0007@gmail.com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392745" y="4323389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690292" y="4327017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63265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Ms. R Uma Maheswari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207210" y="4342613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81DED0E-8121-4A62-5E99-A69B8B50A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741482"/>
              </p:ext>
            </p:extLst>
          </p:nvPr>
        </p:nvGraphicFramePr>
        <p:xfrm>
          <a:off x="4663" y="3463064"/>
          <a:ext cx="5178601" cy="518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178601">
                  <a:extLst>
                    <a:ext uri="{9D8B030D-6E8A-4147-A177-3AD203B41FA5}">
                      <a16:colId xmlns:a16="http://schemas.microsoft.com/office/drawing/2014/main" val="3438802165"/>
                    </a:ext>
                  </a:extLst>
                </a:gridCol>
              </a:tblGrid>
              <a:tr h="2661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rgbClr val="0D358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IN" sz="1400" b="1" kern="1200" dirty="0">
                          <a:solidFill>
                            <a:srgbClr val="0D358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 Willing But Wary Developers: AI Adoption, Trust Deficit, and Ethical Anxiety in Software Engineering</a:t>
                      </a:r>
                      <a:endParaRPr lang="en-US" sz="1400" b="1" kern="1200" dirty="0">
                        <a:solidFill>
                          <a:srgbClr val="0D358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395308"/>
                  </a:ext>
                </a:extLst>
              </a:tr>
            </a:tbl>
          </a:graphicData>
        </a:graphic>
      </p:graphicFrame>
      <p:pic>
        <p:nvPicPr>
          <p:cNvPr id="2050" name="Picture 2" descr="Workload Balance Icon Represented By Task">
            <a:extLst>
              <a:ext uri="{FF2B5EF4-FFF2-40B4-BE49-F238E27FC236}">
                <a16:creationId xmlns:a16="http://schemas.microsoft.com/office/drawing/2014/main" id="{B7E2115E-56B5-32EE-10E3-5EC1FA689D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42"/>
          <a:stretch>
            <a:fillRect/>
          </a:stretch>
        </p:blipFill>
        <p:spPr bwMode="auto">
          <a:xfrm>
            <a:off x="5319813" y="1507263"/>
            <a:ext cx="2128458" cy="204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831904" y="1034326"/>
            <a:ext cx="2415625" cy="27704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85490-6B1A-3AF7-7296-455B4DA24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93DEB7-E159-3AEE-9FCA-D45A14227C2F}"/>
              </a:ext>
            </a:extLst>
          </p:cNvPr>
          <p:cNvSpPr txBox="1"/>
          <p:nvPr/>
        </p:nvSpPr>
        <p:spPr>
          <a:xfrm>
            <a:off x="1143" y="429795"/>
            <a:ext cx="45708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B3A6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SemiBold"/>
              </a:rPr>
              <a:t>Abstract</a:t>
            </a:r>
            <a:endParaRPr lang="en-US" sz="20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A1F275-8409-935C-E316-175A52BE605A}"/>
              </a:ext>
            </a:extLst>
          </p:cNvPr>
          <p:cNvSpPr txBox="1"/>
          <p:nvPr/>
        </p:nvSpPr>
        <p:spPr>
          <a:xfrm>
            <a:off x="0" y="766471"/>
            <a:ext cx="650727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Identifies a novel 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'AI Trust Paradox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’ multidimensional phenomenon  </a:t>
            </a:r>
          </a:p>
          <a:p>
            <a:pPr algn="just"/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Use-despite-distrust</a:t>
            </a:r>
          </a:p>
          <a:p>
            <a:pPr algn="just"/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The adoption-ethics gap</a:t>
            </a:r>
          </a:p>
          <a:p>
            <a:pPr algn="just"/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The utility-threat tension</a:t>
            </a:r>
          </a:p>
          <a:p>
            <a:pPr algn="just"/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Utilize the Stack Overflow Developer Survey (2025)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 quantify tension between the 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necessity of AI adoption and the critical distrust of its outputs.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Tools &amp; Technologies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Excel +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Python 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+ Copilot+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Github</a:t>
            </a:r>
            <a:endParaRPr lang="en-US" sz="16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Expected outcomes:</a:t>
            </a:r>
          </a:p>
          <a:p>
            <a:pPr algn="just"/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Empirical validation of the AI Trust Paradox</a:t>
            </a:r>
          </a:p>
          <a:p>
            <a:pPr algn="just"/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An interactive dashboard </a:t>
            </a:r>
            <a:endParaRPr lang="en-US" sz="16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Highlights: </a:t>
            </a:r>
          </a:p>
          <a:p>
            <a:pPr algn="just"/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High AI adoption but low trust</a:t>
            </a:r>
          </a:p>
          <a:p>
            <a:pPr algn="just"/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Strong positive sentiments despite low trust in AI outputs</a:t>
            </a:r>
          </a:p>
          <a:p>
            <a:pPr algn="just"/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Increasing AI productivity with increased perceived job threat  </a:t>
            </a:r>
          </a:p>
          <a:p>
            <a:pPr algn="just"/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8AAAEBE1-9595-0D57-F6A2-C5ACD16BF2F9}"/>
              </a:ext>
            </a:extLst>
          </p:cNvPr>
          <p:cNvSpPr/>
          <p:nvPr/>
        </p:nvSpPr>
        <p:spPr>
          <a:xfrm>
            <a:off x="6820423" y="1593913"/>
            <a:ext cx="2209278" cy="2501837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797075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391830"/>
            <a:ext cx="8229600" cy="429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0623" y="894204"/>
            <a:ext cx="586748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b="1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Core 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</a:t>
            </a:r>
            <a:r>
              <a:rPr lang="en-US" b="1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roblem</a:t>
            </a:r>
            <a:r>
              <a:rPr lang="en-US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Global AI Adoption Lacking Underlying Trust Mechanisms</a:t>
            </a: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 algn="just"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 algn="just"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Significance of the problem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Bridging the Strategic Gap Between AI Adoption and Trust</a:t>
            </a: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 algn="just"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 algn="just"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Individual Developers, Tech Managers, Organizations</a:t>
            </a:r>
          </a:p>
          <a:p>
            <a:pPr marL="228600" indent="-228600" algn="just"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 algn="just"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Conventional Metrics Overlook the Systemic Trust-Adoption Decoupling</a:t>
            </a:r>
          </a:p>
          <a:p>
            <a:pPr marL="228600" indent="-228600" algn="just"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 algn="just"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Scope &amp; Boundaries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Limited to Professional Software Engineering Developer Roles</a:t>
            </a:r>
          </a:p>
        </p:txBody>
      </p:sp>
      <p:pic>
        <p:nvPicPr>
          <p:cNvPr id="2" name="Picture 2" descr="How AI and Automation Are Shaping the Future of Work - Graphic Eagle">
            <a:extLst>
              <a:ext uri="{FF2B5EF4-FFF2-40B4-BE49-F238E27FC236}">
                <a16:creationId xmlns:a16="http://schemas.microsoft.com/office/drawing/2014/main" id="{CA40A3CC-3232-5099-E668-21BBB979C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821" y="1707453"/>
            <a:ext cx="2163028" cy="2501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725532"/>
            <a:ext cx="3931920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0" y="362318"/>
            <a:ext cx="8229600" cy="36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69119" y="577999"/>
            <a:ext cx="5930848" cy="42031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IN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dirty="0"/>
              <a:t>To propose multidimensional human-centric metrics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Trust-Adoption Decoupling Ratios (Beyond Usage Rates)</a:t>
            </a:r>
            <a:endParaRPr lang="en-IN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N" dirty="0"/>
              <a:t>Sentiment-Ethics Alignment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utility-threat tension</a:t>
            </a:r>
            <a:endParaRPr lang="en-IN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dirty="0"/>
              <a:t>To design an interactive Power BI dashboard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dirty="0"/>
              <a:t>Visualizes </a:t>
            </a:r>
            <a:r>
              <a:rPr lang="en-US" dirty="0"/>
              <a:t>the three paradoxes with an overview</a:t>
            </a:r>
            <a:endParaRPr lang="en-IN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dirty="0"/>
              <a:t>Provides Trust KPIS, Sentiment KPIs and Job threat KPIs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dirty="0"/>
              <a:t>To integrate conversational AI to generate synthesis of the complex statistical findings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Tools: </a:t>
            </a:r>
            <a:r>
              <a:rPr lang="en-IN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Python, Copilot, </a:t>
            </a:r>
            <a:r>
              <a:rPr lang="en-IN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b="1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57684" y="578145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 Architecture</a:t>
            </a:r>
            <a:endParaRPr lang="en-US" sz="20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Input / Source</a:t>
            </a: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 Overflow Developer Survey 2025 — survey_results_public.csv (49,191 × 172). Public. </a:t>
            </a:r>
            <a:r>
              <a:rPr lang="en-US" sz="1600" dirty="0" err="1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Licence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1600" dirty="0" err="1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OdbL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Source: survey.stackoverflow.co/2025 · Kaggle.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Processing / Analysis</a:t>
            </a: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Using Python 3.10 running on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Jupyter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Lite ; Advanced data cleaning using 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Pandas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NumPy libraries;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Utilization of 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SciPy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for Chi-square and Cramér's V tests</a:t>
            </a:r>
            <a:endParaRPr lang="en-IN" dirty="0"/>
          </a:p>
          <a:p>
            <a:br>
              <a:rPr lang="en-IN" sz="1600" dirty="0"/>
            </a:b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42215" y="2996841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036975" y="298197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69993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70249" y="3427056"/>
            <a:ext cx="437980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Interactive Dashboard:</a:t>
            </a: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Single-file, zero-dependency HTML 4 pages (overview + 3 Paradox) </a:t>
            </a:r>
          </a:p>
          <a:p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GitHub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repository for version control, project documentation, and final deployment.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53957-B942-B997-9552-FA2A7795D3A3}"/>
              </a:ext>
            </a:extLst>
          </p:cNvPr>
          <p:cNvSpPr txBox="1"/>
          <p:nvPr/>
        </p:nvSpPr>
        <p:spPr>
          <a:xfrm>
            <a:off x="222937" y="3516253"/>
            <a:ext cx="45708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 AI Agent built via </a:t>
            </a:r>
            <a:r>
              <a:rPr lang="it-IT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Microsoft Copilot Studio</a:t>
            </a: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444569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73664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400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19" y="3302789"/>
            <a:ext cx="2976372" cy="15680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just"/>
            <a:r>
              <a:rPr lang="en-US" sz="135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Overview-</a:t>
            </a:r>
            <a:r>
              <a:rPr lang="en-US" sz="135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dashboard provides a high-level snapshot of the </a:t>
            </a:r>
            <a:r>
              <a:rPr lang="en-US" sz="135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Trust Paradox</a:t>
            </a:r>
            <a:r>
              <a:rPr lang="en-US" sz="135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showing that while AI adoption is very high (78.5%), trust remains extremely low (3.1%) with significant distrust and ethical gaps. </a:t>
            </a:r>
          </a:p>
        </p:txBody>
      </p:sp>
      <p:sp>
        <p:nvSpPr>
          <p:cNvPr id="14" name="Shape 12"/>
          <p:cNvSpPr/>
          <p:nvPr/>
        </p:nvSpPr>
        <p:spPr>
          <a:xfrm>
            <a:off x="3218688" y="2681244"/>
            <a:ext cx="2788920" cy="2167394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sz="1400" dirty="0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095373" y="3279044"/>
            <a:ext cx="2999104" cy="1568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35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Paradox1-</a:t>
            </a:r>
            <a:r>
              <a:rPr lang="en-US" sz="135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Even active AI users exhibit significant distrust toward outputs, proving that </a:t>
            </a:r>
            <a:r>
              <a:rPr lang="en-US" sz="135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usage and trust are decoupled</a:t>
            </a:r>
            <a:r>
              <a:rPr lang="en-US" sz="135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It highlights how distrust persists across user groups, experience levels, and geographies despite widespread adoption.</a:t>
            </a: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58484" y="3272790"/>
            <a:ext cx="2788920" cy="16647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just"/>
            <a:r>
              <a:rPr lang="en-US" sz="135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Paradox2-</a:t>
            </a:r>
            <a:r>
              <a:rPr lang="en-US" sz="135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Adoption–Ethics Gap: This page reveals that while developers have strong positive sentiment toward AI (61%), their trust in its outputs is much lower (32.6%), creating a clear </a:t>
            </a:r>
            <a:r>
              <a:rPr lang="en-US" sz="135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ethics gap</a:t>
            </a:r>
            <a:r>
              <a:rPr lang="en-US" sz="135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</a:p>
        </p:txBody>
      </p:sp>
      <p:sp>
        <p:nvSpPr>
          <p:cNvPr id="21" name="Text 19"/>
          <p:cNvSpPr/>
          <p:nvPr/>
        </p:nvSpPr>
        <p:spPr>
          <a:xfrm>
            <a:off x="6300216" y="2702320"/>
            <a:ext cx="2514600" cy="15891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8637A3-91C8-4069-AD42-EE72709B9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066" y="1064939"/>
            <a:ext cx="2878543" cy="22141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CF9E8B-7EC8-34E0-1D56-4D559357B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628" y="1056690"/>
            <a:ext cx="2898776" cy="22460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25AAC0-8925-8B85-0FA9-0D14FAAB00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" y="1056689"/>
            <a:ext cx="2976373" cy="224609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D23BF-7BD8-11B8-4CE0-0110FF2A6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A191339-4155-B46F-A553-6ED44536B964}"/>
              </a:ext>
            </a:extLst>
          </p:cNvPr>
          <p:cNvSpPr/>
          <p:nvPr/>
        </p:nvSpPr>
        <p:spPr>
          <a:xfrm>
            <a:off x="0" y="444569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 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5294084-8F6A-24CE-B0A3-D85806410B59}"/>
              </a:ext>
            </a:extLst>
          </p:cNvPr>
          <p:cNvSpPr/>
          <p:nvPr/>
        </p:nvSpPr>
        <p:spPr>
          <a:xfrm>
            <a:off x="0" y="80003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EC33E8F-66E6-2CED-30FA-468951CEE621}"/>
              </a:ext>
            </a:extLst>
          </p:cNvPr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400">
              <a:latin typeface="Lato" panose="020F0502020204030203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3EBBF0E-4D1E-4F9A-CDE3-0DF6D40B16F3}"/>
              </a:ext>
            </a:extLst>
          </p:cNvPr>
          <p:cNvSpPr/>
          <p:nvPr/>
        </p:nvSpPr>
        <p:spPr>
          <a:xfrm>
            <a:off x="-1" y="3019837"/>
            <a:ext cx="3035807" cy="19674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just"/>
            <a:r>
              <a:rPr lang="en-US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Paradox 3-</a:t>
            </a:r>
            <a:r>
              <a: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Utility–Threat Tension: This page shows that while AI improves productivity, perceived job threat is rising, with a declining share of developers feeling safe and many considering career changes. It highlights the growing tension where AI is both a helper and a potential threat to job security.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D3E0E68-4568-A998-DF4F-9816C9666A44}"/>
              </a:ext>
            </a:extLst>
          </p:cNvPr>
          <p:cNvSpPr/>
          <p:nvPr/>
        </p:nvSpPr>
        <p:spPr>
          <a:xfrm>
            <a:off x="3195828" y="2976107"/>
            <a:ext cx="2788920" cy="2028618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just"/>
            <a:r>
              <a:rPr lang="en-US" sz="135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Chatbot-</a:t>
            </a:r>
            <a:r>
              <a:rPr lang="en-US" sz="135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</a:t>
            </a:r>
            <a:r>
              <a:rPr lang="en-US" sz="135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35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setup showcases a tailored AI assistant built on the Stack Overflow Developer Survey 2025, designed to provide domain-specific insights on developer behavior, AI adoption, and trends through interactive, real-time querying.</a:t>
            </a:r>
            <a:endParaRPr lang="en-IN" sz="13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9640783-E5EE-8112-CD07-86E3968769D8}"/>
              </a:ext>
            </a:extLst>
          </p:cNvPr>
          <p:cNvSpPr/>
          <p:nvPr/>
        </p:nvSpPr>
        <p:spPr>
          <a:xfrm>
            <a:off x="3145536" y="2748471"/>
            <a:ext cx="2948941" cy="21890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FC246C1-7185-7A6B-2EE2-85CBE24AA011}"/>
              </a:ext>
            </a:extLst>
          </p:cNvPr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034085E-B97C-5236-FFFD-C8915D235458}"/>
              </a:ext>
            </a:extLst>
          </p:cNvPr>
          <p:cNvSpPr/>
          <p:nvPr/>
        </p:nvSpPr>
        <p:spPr>
          <a:xfrm>
            <a:off x="6158484" y="2990899"/>
            <a:ext cx="2788920" cy="2025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just"/>
            <a:r>
              <a:rPr lang="en-US" sz="135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Chatbot-</a:t>
            </a:r>
            <a:r>
              <a:rPr lang="en-US" sz="135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repository hosts the </a:t>
            </a:r>
            <a:r>
              <a:rPr lang="en-US" sz="135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Trust Paradox project</a:t>
            </a:r>
            <a:r>
              <a:rPr lang="en-US" sz="135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including datasets, dashboards, reports. It serves as a centralized hub for exploring analysis, code, and outputs related to this project.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4C5AA48-D2A4-7833-BDC9-6D62D1D24F23}"/>
              </a:ext>
            </a:extLst>
          </p:cNvPr>
          <p:cNvSpPr/>
          <p:nvPr/>
        </p:nvSpPr>
        <p:spPr>
          <a:xfrm>
            <a:off x="6300216" y="2702320"/>
            <a:ext cx="2514600" cy="15891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99A8F7-76B0-80BB-076D-2786693BC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56689"/>
            <a:ext cx="3067812" cy="19631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9AB209-4DCC-DE77-186A-7F87EAC94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9598" y="1056689"/>
            <a:ext cx="2898521" cy="19194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51068C-0AF9-1EE7-9EBB-2A984A44E4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5842" y="1011919"/>
            <a:ext cx="2796324" cy="191941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41894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8DBA7F-C9ED-7085-7BF8-A9227E0811F0}"/>
              </a:ext>
            </a:extLst>
          </p:cNvPr>
          <p:cNvSpPr txBox="1"/>
          <p:nvPr/>
        </p:nvSpPr>
        <p:spPr>
          <a:xfrm>
            <a:off x="683173" y="504498"/>
            <a:ext cx="7725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Deployed on </a:t>
            </a:r>
            <a:r>
              <a:rPr lang="en-US" sz="2000" dirty="0" err="1"/>
              <a:t>Github</a:t>
            </a:r>
            <a:r>
              <a:rPr lang="en-US" sz="2000" dirty="0"/>
              <a:t>: </a:t>
            </a:r>
            <a:r>
              <a:rPr lang="en-US" sz="2000" dirty="0">
                <a:hlinkClick r:id="rId2"/>
              </a:rPr>
              <a:t>AICW Project Dashboard Link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9B113C-B6DF-B083-64A4-3A2A518F0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72" y="966938"/>
            <a:ext cx="7725104" cy="391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530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>
            <a:hlinkClick r:id="rId4"/>
          </p:cNvPr>
          <p:cNvSpPr/>
          <p:nvPr/>
        </p:nvSpPr>
        <p:spPr>
          <a:xfrm>
            <a:off x="94593" y="515007"/>
            <a:ext cx="8683647" cy="4148433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66294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78308" y="603504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2665" y="57150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49808" y="5715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>
            <a:hlinkClick r:id="rId4"/>
          </p:cNvPr>
          <p:cNvSpPr/>
          <p:nvPr/>
        </p:nvSpPr>
        <p:spPr>
          <a:xfrm>
            <a:off x="365760" y="777240"/>
            <a:ext cx="84124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r>
              <a:rPr lang="en-IN"/>
              <a:t>https://drive.google.com/file/d/1iNyjNMm69QIyilITGbQ8vekkr5lMEUH-/view?usp=sharing</a:t>
            </a:r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426615" y="754380"/>
            <a:ext cx="8348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41822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0" y="774455"/>
            <a:ext cx="6513534" cy="41969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IN" sz="14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Statistically proved that while </a:t>
            </a:r>
            <a:r>
              <a:rPr lang="en-IN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78.5%</a:t>
            </a: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of developers use AI daily, only </a:t>
            </a:r>
            <a:r>
              <a:rPr lang="en-IN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3.1%</a:t>
            </a: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maintain high trust in the output.</a:t>
            </a:r>
          </a:p>
          <a:p>
            <a:pPr lvl="0"/>
            <a:endParaRPr lang="en-IN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Senior developers (10+ years) exhibit significantly higher </a:t>
            </a:r>
            <a:r>
              <a:rPr lang="en-IN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"Verification Fatigue"</a:t>
            </a: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than junior peers.</a:t>
            </a:r>
          </a:p>
          <a:p>
            <a:pPr lvl="0"/>
            <a:endParaRPr lang="en-IN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Found that developers using </a:t>
            </a:r>
            <a:r>
              <a:rPr lang="en-IN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4+ tools</a:t>
            </a: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report a </a:t>
            </a:r>
            <a:r>
              <a:rPr lang="en-IN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47.5% distrust rate</a:t>
            </a: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proving that increased exposure to AI models highlights more failure modes.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 </a:t>
            </a:r>
            <a:r>
              <a:rPr lang="en-IN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28.4% sentiment gap</a:t>
            </a: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exists where developers enjoy tool convenience but fundamentally doubt the underlying logic.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Shifted the focus of AI evaluation from </a:t>
            </a:r>
            <a:r>
              <a:rPr lang="en-IN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"Technical Benchmarks"</a:t>
            </a: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to </a:t>
            </a:r>
            <a:r>
              <a:rPr lang="en-IN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"Human-Centric Sentiment,"</a:t>
            </a: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identifying trust as the primary bottleneck for long-term</a:t>
            </a:r>
          </a:p>
          <a:p>
            <a:pPr lvl="0"/>
            <a:endParaRPr lang="en-IN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Offers a strategic blueprint for moving teams from </a:t>
            </a:r>
            <a:r>
              <a:rPr lang="en-IN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"Forced Adoption"</a:t>
            </a:r>
            <a:endParaRPr lang="en-IN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50" name="Picture 2" descr="AI Stress: Coping Mechanisms For A Fast World In The Age Of AI">
            <a:extLst>
              <a:ext uri="{FF2B5EF4-FFF2-40B4-BE49-F238E27FC236}">
                <a16:creationId xmlns:a16="http://schemas.microsoft.com/office/drawing/2014/main" id="{F9AD1284-65DB-3FFD-BED0-41765A5F5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479" y="1501757"/>
            <a:ext cx="1980309" cy="1958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465683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6" y="904595"/>
            <a:ext cx="5726409" cy="4004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Longitudinal Panel Study:</a:t>
            </a: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Track the same developer cohort over three consecutive surveys to establish whether adoption drives distrust or vice versa via causal inference.</a:t>
            </a:r>
          </a:p>
          <a:p>
            <a:pPr lvl="0">
              <a:buSzPts val="1000"/>
              <a:tabLst>
                <a:tab pos="457200" algn="l"/>
              </a:tabLst>
            </a:pP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Structural Equation </a:t>
            </a:r>
            <a:r>
              <a:rPr lang="en-IN" sz="16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Modeling</a:t>
            </a:r>
            <a:r>
              <a:rPr lang="en-IN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(SEM):</a:t>
            </a: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Apply SEM to test the integrated TAM-JD-R model, confirming mediation and moderation paths (Expertise, Geography) simultaneously.</a:t>
            </a:r>
          </a:p>
          <a:p>
            <a:pPr lvl="0">
              <a:buSzPts val="1000"/>
              <a:tabLst>
                <a:tab pos="457200" algn="l"/>
              </a:tabLst>
            </a:pP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Qualitative Deep-Dive:</a:t>
            </a: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Conduct 20–30 in-depth interviews to understand the "lived experience" of the paradox and how developers rationalize daily use despite professional scepticism.</a:t>
            </a:r>
          </a:p>
          <a:p>
            <a:pPr lvl="0">
              <a:buSzPts val="1000"/>
              <a:tabLst>
                <a:tab pos="457200" algn="l"/>
              </a:tabLst>
            </a:pPr>
            <a:endParaRPr lang="en-IN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052473"/>
            <a:ext cx="3200400" cy="321141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8DDD0C-D924-4E39-B113-FE47EE864BE5}"/>
              </a:ext>
            </a:extLst>
          </p:cNvPr>
          <p:cNvSpPr txBox="1"/>
          <p:nvPr/>
        </p:nvSpPr>
        <p:spPr>
          <a:xfrm>
            <a:off x="1587062" y="1755228"/>
            <a:ext cx="58857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Q &amp; A</a:t>
            </a:r>
            <a:endParaRPr lang="en-IN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46BE74-A846-4EED-965F-DFF19DD1A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2" y="1363553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28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3404</TotalTime>
  <Words>952</Words>
  <Application>Microsoft Office PowerPoint</Application>
  <PresentationFormat>On-screen Show (16:9)</PresentationFormat>
  <Paragraphs>121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Lato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chandni rani</cp:lastModifiedBy>
  <cp:revision>59</cp:revision>
  <dcterms:created xsi:type="dcterms:W3CDTF">2026-02-18T09:17:23Z</dcterms:created>
  <dcterms:modified xsi:type="dcterms:W3CDTF">2026-04-25T16:05:53Z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