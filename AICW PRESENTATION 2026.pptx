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70" r:id="rId2"/>
    <p:sldId id="257" r:id="rId3"/>
    <p:sldId id="258" r:id="rId4"/>
    <p:sldId id="259" r:id="rId5"/>
    <p:sldId id="271" r:id="rId6"/>
    <p:sldId id="272" r:id="rId7"/>
    <p:sldId id="262" r:id="rId8"/>
    <p:sldId id="263" r:id="rId9"/>
    <p:sldId id="264" r:id="rId10"/>
    <p:sldId id="274" r:id="rId11"/>
    <p:sldId id="275" r:id="rId12"/>
    <p:sldId id="265" r:id="rId13"/>
    <p:sldId id="266" r:id="rId14"/>
    <p:sldId id="276" r:id="rId15"/>
    <p:sldId id="268" r:id="rId16"/>
  </p:sldIdLst>
  <p:sldSz cx="12192000" cy="6858000"/>
  <p:notesSz cx="6858000" cy="9144000"/>
  <p:embeddedFontLst>
    <p:embeddedFont>
      <p:font typeface="Inter" panose="020B0604020202020204" charset="0"/>
      <p:regular r:id="rId18"/>
      <p:bold r:id="rId19"/>
      <p:italic r:id="rId20"/>
      <p:boldItalic r:id="rId21"/>
    </p:embeddedFont>
    <p:embeddedFont>
      <p:font typeface="Inter Medium"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Lato" panose="020F0502020204030203" pitchFamily="34" charset="0"/>
      <p:regular r:id="rId30"/>
      <p:bold r:id="rId31"/>
    </p:embeddedFont>
    <p:embeddedFont>
      <p:font typeface="Poppins" panose="000005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44"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4BD5B82D-6B5B-3CF7-BEDE-C19FDB43772B}"/>
            </a:ext>
          </a:extLst>
        </p:cNvPr>
        <p:cNvGrpSpPr/>
        <p:nvPr/>
      </p:nvGrpSpPr>
      <p:grpSpPr>
        <a:xfrm>
          <a:off x="0" y="0"/>
          <a:ext cx="0" cy="0"/>
          <a:chOff x="0" y="0"/>
          <a:chExt cx="0" cy="0"/>
        </a:xfrm>
      </p:grpSpPr>
      <p:sp>
        <p:nvSpPr>
          <p:cNvPr id="148" name="Google Shape;148;p4:notes">
            <a:extLst>
              <a:ext uri="{FF2B5EF4-FFF2-40B4-BE49-F238E27FC236}">
                <a16:creationId xmlns:a16="http://schemas.microsoft.com/office/drawing/2014/main" id="{8FEB0170-97A8-8C40-9DB0-A5350CC433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4:notes">
            <a:extLst>
              <a:ext uri="{FF2B5EF4-FFF2-40B4-BE49-F238E27FC236}">
                <a16:creationId xmlns:a16="http://schemas.microsoft.com/office/drawing/2014/main" id="{B217ED81-6E41-9CDC-073D-96941810EC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3536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0741E898-5F9D-425A-ABE7-E927705EA829}"/>
            </a:ext>
          </a:extLst>
        </p:cNvPr>
        <p:cNvGrpSpPr/>
        <p:nvPr/>
      </p:nvGrpSpPr>
      <p:grpSpPr>
        <a:xfrm>
          <a:off x="0" y="0"/>
          <a:ext cx="0" cy="0"/>
          <a:chOff x="0" y="0"/>
          <a:chExt cx="0" cy="0"/>
        </a:xfrm>
      </p:grpSpPr>
      <p:sp>
        <p:nvSpPr>
          <p:cNvPr id="224" name="Google Shape;224;p9:notes">
            <a:extLst>
              <a:ext uri="{FF2B5EF4-FFF2-40B4-BE49-F238E27FC236}">
                <a16:creationId xmlns:a16="http://schemas.microsoft.com/office/drawing/2014/main" id="{3C551189-F729-D5DD-8099-F3E2A86219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a:extLst>
              <a:ext uri="{FF2B5EF4-FFF2-40B4-BE49-F238E27FC236}">
                <a16:creationId xmlns:a16="http://schemas.microsoft.com/office/drawing/2014/main" id="{D9B9406C-B087-3034-85DC-A1A318FD20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16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FEC89BA2-59D9-DA1E-B50D-DC0BC7956037}"/>
            </a:ext>
          </a:extLst>
        </p:cNvPr>
        <p:cNvGrpSpPr/>
        <p:nvPr/>
      </p:nvGrpSpPr>
      <p:grpSpPr>
        <a:xfrm>
          <a:off x="0" y="0"/>
          <a:ext cx="0" cy="0"/>
          <a:chOff x="0" y="0"/>
          <a:chExt cx="0" cy="0"/>
        </a:xfrm>
      </p:grpSpPr>
      <p:sp>
        <p:nvSpPr>
          <p:cNvPr id="224" name="Google Shape;224;p9:notes">
            <a:extLst>
              <a:ext uri="{FF2B5EF4-FFF2-40B4-BE49-F238E27FC236}">
                <a16:creationId xmlns:a16="http://schemas.microsoft.com/office/drawing/2014/main" id="{F2C8BD97-6CE7-8278-12AC-C7A75F4C77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a:extLst>
              <a:ext uri="{FF2B5EF4-FFF2-40B4-BE49-F238E27FC236}">
                <a16:creationId xmlns:a16="http://schemas.microsoft.com/office/drawing/2014/main" id="{EB712785-F6B5-34A2-874F-4B3783D800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513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D4967B13-A08A-D5D2-24D1-ECB1B1F2D8C7}"/>
            </a:ext>
          </a:extLst>
        </p:cNvPr>
        <p:cNvGrpSpPr/>
        <p:nvPr/>
      </p:nvGrpSpPr>
      <p:grpSpPr>
        <a:xfrm>
          <a:off x="0" y="0"/>
          <a:ext cx="0" cy="0"/>
          <a:chOff x="0" y="0"/>
          <a:chExt cx="0" cy="0"/>
        </a:xfrm>
      </p:grpSpPr>
      <p:sp>
        <p:nvSpPr>
          <p:cNvPr id="243" name="Google Shape;243;p11:notes">
            <a:extLst>
              <a:ext uri="{FF2B5EF4-FFF2-40B4-BE49-F238E27FC236}">
                <a16:creationId xmlns:a16="http://schemas.microsoft.com/office/drawing/2014/main" id="{450CB5CD-2278-1615-DD6B-EA72B638B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1:notes">
            <a:extLst>
              <a:ext uri="{FF2B5EF4-FFF2-40B4-BE49-F238E27FC236}">
                <a16:creationId xmlns:a16="http://schemas.microsoft.com/office/drawing/2014/main" id="{7CE61F51-3092-3E24-C70E-A5D8106CD3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1055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25134305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sv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3.xml"/><Relationship Id="rId4" Type="http://schemas.openxmlformats.org/officeDocument/2006/relationships/hyperlink" Target="https://survey.stackoverflow.co/2025/"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6.pn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486510" y="870545"/>
            <a:ext cx="4804444" cy="646695"/>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67"/>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5537824" cy="168237"/>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33867" tIns="33867" rIns="33867" bIns="33867" rtlCol="0" anchor="ctr"/>
            <a:lstStyle/>
            <a:p>
              <a:pPr algn="ctr">
                <a:lnSpc>
                  <a:spcPts val="1773"/>
                </a:lnSpc>
              </a:pPr>
              <a:endParaRPr sz="933"/>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6689763"/>
            <a:ext cx="10095059" cy="168237"/>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33867" tIns="33867" rIns="33867" bIns="33867" rtlCol="0" anchor="ctr"/>
            <a:lstStyle/>
            <a:p>
              <a:pPr algn="ctr">
                <a:lnSpc>
                  <a:spcPts val="1773"/>
                </a:lnSpc>
              </a:pPr>
              <a:endParaRPr sz="933"/>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4882359" y="-705329"/>
            <a:ext cx="6136427" cy="2831009"/>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33867" tIns="33867" rIns="33867" bIns="33867" rtlCol="0" anchor="ctr"/>
            <a:lstStyle/>
            <a:p>
              <a:pPr algn="ctr">
                <a:lnSpc>
                  <a:spcPts val="1773"/>
                </a:lnSpc>
              </a:pPr>
              <a:endParaRPr sz="933"/>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7509811" y="405228"/>
            <a:ext cx="4965443" cy="1419192"/>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33867" tIns="33867" rIns="33867" bIns="33867" rtlCol="0" anchor="ctr"/>
            <a:lstStyle/>
            <a:p>
              <a:pPr algn="ctr">
                <a:lnSpc>
                  <a:spcPts val="1773"/>
                </a:lnSpc>
              </a:pPr>
              <a:endParaRPr sz="933"/>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10037624" y="-1190421"/>
            <a:ext cx="3831945" cy="2622695"/>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33867" tIns="33867" rIns="33867" bIns="33867" rtlCol="0" anchor="ctr"/>
            <a:lstStyle/>
            <a:p>
              <a:pPr algn="ctr">
                <a:lnSpc>
                  <a:spcPts val="1773"/>
                </a:lnSpc>
              </a:pPr>
              <a:endParaRPr sz="933"/>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9009120" y="5338265"/>
            <a:ext cx="6136427" cy="2831009"/>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33867" tIns="33867" rIns="33867" bIns="33867" rtlCol="0" anchor="ctr"/>
            <a:lstStyle/>
            <a:p>
              <a:pPr algn="ctr">
                <a:lnSpc>
                  <a:spcPts val="1773"/>
                </a:lnSpc>
              </a:pPr>
              <a:endParaRPr sz="933"/>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10456261" y="4896693"/>
            <a:ext cx="2889265" cy="1501585"/>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33867" tIns="33867" rIns="33867" bIns="33867" rtlCol="0" anchor="ctr"/>
            <a:lstStyle/>
            <a:p>
              <a:pPr algn="ctr">
                <a:lnSpc>
                  <a:spcPts val="1773"/>
                </a:lnSpc>
              </a:pPr>
              <a:endParaRPr sz="933"/>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7627329" y="1025313"/>
            <a:ext cx="4634283" cy="4634283"/>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933"/>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39260" tIns="39260" rIns="39260" bIns="39260" rtlCol="0" anchor="ctr"/>
            <a:lstStyle/>
            <a:p>
              <a:pPr algn="ctr">
                <a:lnSpc>
                  <a:spcPts val="1773"/>
                </a:lnSpc>
                <a:spcBef>
                  <a:spcPct val="0"/>
                </a:spcBef>
              </a:pPr>
              <a:endParaRPr sz="933"/>
            </a:p>
          </p:txBody>
        </p:sp>
      </p:grpSp>
      <p:sp>
        <p:nvSpPr>
          <p:cNvPr id="34" name="Freeform 34">
            <a:extLst>
              <a:ext uri="{FF2B5EF4-FFF2-40B4-BE49-F238E27FC236}">
                <a16:creationId xmlns:a16="http://schemas.microsoft.com/office/drawing/2014/main" id="{79637531-A44E-C462-F403-761C10B95F61}"/>
              </a:ext>
            </a:extLst>
          </p:cNvPr>
          <p:cNvSpPr/>
          <p:nvPr/>
        </p:nvSpPr>
        <p:spPr>
          <a:xfrm>
            <a:off x="6419755" y="657084"/>
            <a:ext cx="1142752" cy="212837"/>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933"/>
          </a:p>
        </p:txBody>
      </p:sp>
      <p:sp>
        <p:nvSpPr>
          <p:cNvPr id="35" name="Freeform 35">
            <a:extLst>
              <a:ext uri="{FF2B5EF4-FFF2-40B4-BE49-F238E27FC236}">
                <a16:creationId xmlns:a16="http://schemas.microsoft.com/office/drawing/2014/main" id="{DCD7CC8C-164D-C41A-6252-42C99A05871B}"/>
              </a:ext>
            </a:extLst>
          </p:cNvPr>
          <p:cNvSpPr/>
          <p:nvPr/>
        </p:nvSpPr>
        <p:spPr>
          <a:xfrm>
            <a:off x="11247916" y="5843838"/>
            <a:ext cx="1142752" cy="212837"/>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933"/>
          </a:p>
        </p:txBody>
      </p:sp>
      <p:sp>
        <p:nvSpPr>
          <p:cNvPr id="36" name="Freeform 36">
            <a:extLst>
              <a:ext uri="{FF2B5EF4-FFF2-40B4-BE49-F238E27FC236}">
                <a16:creationId xmlns:a16="http://schemas.microsoft.com/office/drawing/2014/main" id="{8672D197-9BF9-8CFA-6DF7-2937B68FFD86}"/>
              </a:ext>
            </a:extLst>
          </p:cNvPr>
          <p:cNvSpPr/>
          <p:nvPr/>
        </p:nvSpPr>
        <p:spPr>
          <a:xfrm>
            <a:off x="11635011" y="6096000"/>
            <a:ext cx="1142752" cy="212837"/>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933"/>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25343" y="3904901"/>
            <a:ext cx="5701512" cy="574773"/>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933"/>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33867" tIns="33867" rIns="33867" bIns="33867" rtlCol="0" anchor="ctr"/>
              <a:lstStyle/>
              <a:p>
                <a:pPr algn="ctr">
                  <a:lnSpc>
                    <a:spcPts val="1773"/>
                  </a:lnSpc>
                </a:pPr>
                <a:endParaRPr sz="933"/>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8428"/>
            </a:xfrm>
            <a:prstGeom prst="rect">
              <a:avLst/>
            </a:prstGeom>
          </p:spPr>
          <p:txBody>
            <a:bodyPr lIns="0" tIns="0" rIns="0" bIns="0" rtlCol="0" anchor="t">
              <a:spAutoFit/>
            </a:bodyPr>
            <a:lstStyle/>
            <a:p>
              <a:pPr>
                <a:lnSpc>
                  <a:spcPts val="2591"/>
                </a:lnSpc>
              </a:pPr>
              <a:r>
                <a:rPr lang="en-US" sz="1867" b="1" spc="777"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6105605" y="5731473"/>
            <a:ext cx="2177909" cy="202428"/>
          </a:xfrm>
          <a:prstGeom prst="rect">
            <a:avLst/>
          </a:prstGeom>
        </p:spPr>
        <p:txBody>
          <a:bodyPr lIns="0" tIns="0" rIns="0" bIns="0" rtlCol="0" anchor="t">
            <a:spAutoFit/>
          </a:bodyPr>
          <a:lstStyle/>
          <a:p>
            <a:pPr>
              <a:lnSpc>
                <a:spcPts val="1728"/>
              </a:lnSpc>
            </a:pPr>
            <a:r>
              <a:rPr lang="en-US" sz="1333"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6089188" y="5924902"/>
            <a:ext cx="2177909" cy="306366"/>
          </a:xfrm>
          <a:prstGeom prst="rect">
            <a:avLst/>
          </a:prstGeom>
        </p:spPr>
        <p:txBody>
          <a:bodyPr lIns="0" tIns="0" rIns="0" bIns="0" rtlCol="0" anchor="t">
            <a:spAutoFit/>
          </a:bodyPr>
          <a:lstStyle/>
          <a:p>
            <a:pPr>
              <a:lnSpc>
                <a:spcPts val="2717"/>
              </a:lnSpc>
            </a:pPr>
            <a:r>
              <a:rPr lang="en-US" sz="1600" b="1" dirty="0">
                <a:solidFill>
                  <a:srgbClr val="0D358D"/>
                </a:solidFill>
                <a:latin typeface="Arial" panose="020B0604020202020204" pitchFamily="34" charset="0"/>
                <a:ea typeface="Aileron Bold"/>
                <a:cs typeface="Arial" panose="020B0604020202020204" pitchFamily="34" charset="0"/>
                <a:sym typeface="Aileron Bold"/>
              </a:rPr>
              <a:t>Dr. Chandni Rani</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5503489" y="5722208"/>
            <a:ext cx="527108" cy="509060"/>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2957373" y="5807573"/>
            <a:ext cx="2413304" cy="654025"/>
          </a:xfrm>
          <a:prstGeom prst="rect">
            <a:avLst/>
          </a:prstGeom>
        </p:spPr>
        <p:txBody>
          <a:bodyPr lIns="0" tIns="0" rIns="0" bIns="0" rtlCol="0" anchor="t">
            <a:spAutoFit/>
          </a:bodyPr>
          <a:lstStyle/>
          <a:p>
            <a:pPr>
              <a:lnSpc>
                <a:spcPts val="1728"/>
              </a:lnSpc>
            </a:pPr>
            <a:r>
              <a:rPr lang="en-US" sz="1333" dirty="0">
                <a:latin typeface="Arial" panose="020B0604020202020204" pitchFamily="34" charset="0"/>
                <a:ea typeface="Aileron"/>
                <a:cs typeface="Arial" panose="020B0604020202020204" pitchFamily="34" charset="0"/>
                <a:sym typeface="Aileron"/>
              </a:rPr>
              <a:t>Faculty Email</a:t>
            </a:r>
          </a:p>
          <a:p>
            <a:pPr>
              <a:lnSpc>
                <a:spcPts val="1728"/>
              </a:lnSpc>
            </a:pPr>
            <a:r>
              <a:rPr lang="en-US" sz="1600" dirty="0">
                <a:solidFill>
                  <a:schemeClr val="accent1">
                    <a:lumMod val="75000"/>
                  </a:schemeClr>
                </a:solidFill>
                <a:latin typeface="Arial" panose="020B0604020202020204" pitchFamily="34" charset="0"/>
                <a:ea typeface="Aileron"/>
                <a:cs typeface="Arial" panose="020B0604020202020204" pitchFamily="34" charset="0"/>
                <a:sym typeface="Aileron"/>
              </a:rPr>
              <a:t>Chandniarora0007@gmail.com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390305" y="5757076"/>
            <a:ext cx="531039" cy="519625"/>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608455" y="5777671"/>
            <a:ext cx="3030495" cy="521812"/>
            <a:chOff x="3139699" y="4295282"/>
            <a:chExt cx="2272871" cy="39135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1821"/>
            </a:xfrm>
            <a:prstGeom prst="rect">
              <a:avLst/>
            </a:prstGeom>
          </p:spPr>
          <p:txBody>
            <a:bodyPr lIns="0" tIns="0" rIns="0" bIns="0" rtlCol="0" anchor="t">
              <a:spAutoFit/>
            </a:bodyPr>
            <a:lstStyle/>
            <a:p>
              <a:pPr>
                <a:lnSpc>
                  <a:spcPts val="1728"/>
                </a:lnSpc>
              </a:pPr>
              <a:r>
                <a:rPr lang="en-US" sz="1333"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9775"/>
            </a:xfrm>
            <a:prstGeom prst="rect">
              <a:avLst/>
            </a:prstGeom>
          </p:spPr>
          <p:txBody>
            <a:bodyPr lIns="0" tIns="0" rIns="0" bIns="0" rtlCol="0" anchor="t">
              <a:spAutoFit/>
            </a:bodyPr>
            <a:lstStyle/>
            <a:p>
              <a:pPr>
                <a:lnSpc>
                  <a:spcPts val="2717"/>
                </a:lnSpc>
              </a:pPr>
              <a:r>
                <a:rPr lang="en-IN" sz="1600" b="1" dirty="0" err="1">
                  <a:solidFill>
                    <a:schemeClr val="accent1">
                      <a:lumMod val="75000"/>
                    </a:schemeClr>
                  </a:solidFill>
                </a:rPr>
                <a:t>Umamaheswari</a:t>
              </a:r>
              <a:r>
                <a:rPr lang="en-IN" sz="1600" b="1" dirty="0">
                  <a:solidFill>
                    <a:schemeClr val="accent1">
                      <a:lumMod val="75000"/>
                    </a:schemeClr>
                  </a:solidFill>
                </a:rPr>
                <a:t> R</a:t>
              </a:r>
              <a:endParaRPr lang="en-US" sz="16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24679" y="5796499"/>
            <a:ext cx="501087" cy="508084"/>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854311" y="1026330"/>
            <a:ext cx="4068840" cy="344821"/>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7737101" y="3079217"/>
            <a:ext cx="3779520" cy="146304"/>
          </a:xfrm>
          <a:prstGeom prst="rect">
            <a:avLst/>
          </a:prstGeom>
          <a:solidFill>
            <a:srgbClr val="4FC3F7"/>
          </a:solidFill>
          <a:ln/>
        </p:spPr>
        <p:txBody>
          <a:bodyPr/>
          <a:lstStyle/>
          <a:p>
            <a:endParaRPr lang="en-IN" sz="1867"/>
          </a:p>
        </p:txBody>
      </p:sp>
      <p:sp>
        <p:nvSpPr>
          <p:cNvPr id="32" name="Shape 8">
            <a:extLst>
              <a:ext uri="{FF2B5EF4-FFF2-40B4-BE49-F238E27FC236}">
                <a16:creationId xmlns:a16="http://schemas.microsoft.com/office/drawing/2014/main" id="{51B3A474-02DA-6A59-3FFF-434FDDC06A2B}"/>
              </a:ext>
            </a:extLst>
          </p:cNvPr>
          <p:cNvSpPr/>
          <p:nvPr/>
        </p:nvSpPr>
        <p:spPr>
          <a:xfrm rot="18195971">
            <a:off x="8195151" y="3218277"/>
            <a:ext cx="3291840" cy="146304"/>
          </a:xfrm>
          <a:prstGeom prst="rect">
            <a:avLst/>
          </a:prstGeom>
          <a:solidFill>
            <a:srgbClr val="4FC3F7"/>
          </a:solidFill>
          <a:ln/>
        </p:spPr>
        <p:txBody>
          <a:bodyPr/>
          <a:lstStyle/>
          <a:p>
            <a:endParaRPr lang="en-IN" sz="1867"/>
          </a:p>
        </p:txBody>
      </p:sp>
      <p:sp>
        <p:nvSpPr>
          <p:cNvPr id="33" name="Shape 9">
            <a:extLst>
              <a:ext uri="{FF2B5EF4-FFF2-40B4-BE49-F238E27FC236}">
                <a16:creationId xmlns:a16="http://schemas.microsoft.com/office/drawing/2014/main" id="{075C146A-525E-EAB1-2438-92AF6E344C2C}"/>
              </a:ext>
            </a:extLst>
          </p:cNvPr>
          <p:cNvSpPr/>
          <p:nvPr/>
        </p:nvSpPr>
        <p:spPr>
          <a:xfrm rot="18195971">
            <a:off x="8642835" y="3371573"/>
            <a:ext cx="2804160" cy="146304"/>
          </a:xfrm>
          <a:prstGeom prst="rect">
            <a:avLst/>
          </a:prstGeom>
          <a:solidFill>
            <a:srgbClr val="4FC3F7"/>
          </a:solidFill>
          <a:ln/>
        </p:spPr>
        <p:txBody>
          <a:bodyPr/>
          <a:lstStyle/>
          <a:p>
            <a:endParaRPr lang="en-IN" sz="1867"/>
          </a:p>
        </p:txBody>
      </p:sp>
      <p:sp>
        <p:nvSpPr>
          <p:cNvPr id="39" name="Shape 9">
            <a:extLst>
              <a:ext uri="{FF2B5EF4-FFF2-40B4-BE49-F238E27FC236}">
                <a16:creationId xmlns:a16="http://schemas.microsoft.com/office/drawing/2014/main" id="{ED47441A-C600-ACAC-5391-EF118874C98C}"/>
              </a:ext>
            </a:extLst>
          </p:cNvPr>
          <p:cNvSpPr/>
          <p:nvPr/>
        </p:nvSpPr>
        <p:spPr>
          <a:xfrm rot="18195971">
            <a:off x="8980951" y="3529632"/>
            <a:ext cx="2496061" cy="155025"/>
          </a:xfrm>
          <a:prstGeom prst="rect">
            <a:avLst/>
          </a:prstGeom>
          <a:solidFill>
            <a:srgbClr val="4FC3F7"/>
          </a:solidFill>
          <a:ln/>
        </p:spPr>
        <p:txBody>
          <a:bodyPr/>
          <a:lstStyle/>
          <a:p>
            <a:endParaRPr lang="en-IN" sz="1867"/>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231673" y="1395409"/>
            <a:ext cx="5139004" cy="2466040"/>
          </a:xfrm>
          <a:prstGeom prst="rect">
            <a:avLst/>
          </a:prstGeom>
        </p:spPr>
      </p:pic>
      <p:sp>
        <p:nvSpPr>
          <p:cNvPr id="37" name="Rectangle 36">
            <a:extLst>
              <a:ext uri="{FF2B5EF4-FFF2-40B4-BE49-F238E27FC236}">
                <a16:creationId xmlns:a16="http://schemas.microsoft.com/office/drawing/2014/main" id="{A655BC00-C31B-B326-DC7C-34E9860F1672}"/>
              </a:ext>
            </a:extLst>
          </p:cNvPr>
          <p:cNvSpPr/>
          <p:nvPr/>
        </p:nvSpPr>
        <p:spPr>
          <a:xfrm>
            <a:off x="164592" y="4642498"/>
            <a:ext cx="7520796" cy="6540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Project Title- </a:t>
            </a:r>
            <a:r>
              <a:rPr lang="en-IN" sz="1600" b="1" kern="1200" dirty="0">
                <a:solidFill>
                  <a:schemeClr val="bg1"/>
                </a:solidFill>
              </a:rPr>
              <a:t>The Willing but Wary Developer: AI Adoption, Trust Deficit, and Ethical Anxiety in Software Engineering</a:t>
            </a:r>
          </a:p>
          <a:p>
            <a:pPr algn="ctr"/>
            <a:endParaRPr lang="en-IN" sz="1600" b="1" dirty="0"/>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pic>
        <p:nvPicPr>
          <p:cNvPr id="108" name="Google Shape;108;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9" name="Google Shape;109;p14" descr="image.png"/>
          <p:cNvPicPr preferRelativeResize="0"/>
          <p:nvPr/>
        </p:nvPicPr>
        <p:blipFill rotWithShape="1">
          <a:blip r:embed="rId4">
            <a:alphaModFix/>
          </a:blip>
          <a:srcRect/>
          <a:stretch/>
        </p:blipFill>
        <p:spPr>
          <a:xfrm>
            <a:off x="1466850" y="2486025"/>
            <a:ext cx="285750" cy="228600"/>
          </a:xfrm>
          <a:prstGeom prst="rect">
            <a:avLst/>
          </a:prstGeom>
          <a:noFill/>
          <a:ln>
            <a:noFill/>
          </a:ln>
        </p:spPr>
      </p:pic>
      <p:sp>
        <p:nvSpPr>
          <p:cNvPr id="110" name="Google Shape;110;p14"/>
          <p:cNvSpPr txBox="1"/>
          <p:nvPr/>
        </p:nvSpPr>
        <p:spPr>
          <a:xfrm>
            <a:off x="1943100" y="2462212"/>
            <a:ext cx="26955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1. Abstract of the Project</a:t>
            </a:r>
            <a:endParaRPr/>
          </a:p>
        </p:txBody>
      </p:sp>
      <p:pic>
        <p:nvPicPr>
          <p:cNvPr id="111" name="Google Shape;111;p14" descr="image.png"/>
          <p:cNvPicPr preferRelativeResize="0"/>
          <p:nvPr/>
        </p:nvPicPr>
        <p:blipFill rotWithShape="1">
          <a:blip r:embed="rId5">
            <a:alphaModFix/>
          </a:blip>
          <a:srcRect/>
          <a:stretch/>
        </p:blipFill>
        <p:spPr>
          <a:xfrm>
            <a:off x="6724650" y="2486025"/>
            <a:ext cx="285750" cy="228600"/>
          </a:xfrm>
          <a:prstGeom prst="rect">
            <a:avLst/>
          </a:prstGeom>
          <a:noFill/>
          <a:ln>
            <a:noFill/>
          </a:ln>
        </p:spPr>
      </p:pic>
      <p:sp>
        <p:nvSpPr>
          <p:cNvPr id="112" name="Google Shape;112;p14"/>
          <p:cNvSpPr txBox="1"/>
          <p:nvPr/>
        </p:nvSpPr>
        <p:spPr>
          <a:xfrm>
            <a:off x="7200900" y="2462212"/>
            <a:ext cx="2381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2. Problem Statement</a:t>
            </a:r>
            <a:endParaRPr/>
          </a:p>
        </p:txBody>
      </p:sp>
      <p:pic>
        <p:nvPicPr>
          <p:cNvPr id="113" name="Google Shape;113;p14" descr="image.png"/>
          <p:cNvPicPr preferRelativeResize="0"/>
          <p:nvPr/>
        </p:nvPicPr>
        <p:blipFill rotWithShape="1">
          <a:blip r:embed="rId6">
            <a:alphaModFix/>
          </a:blip>
          <a:srcRect/>
          <a:stretch/>
        </p:blipFill>
        <p:spPr>
          <a:xfrm>
            <a:off x="1466850" y="3429000"/>
            <a:ext cx="285750" cy="228600"/>
          </a:xfrm>
          <a:prstGeom prst="rect">
            <a:avLst/>
          </a:prstGeom>
          <a:noFill/>
          <a:ln>
            <a:noFill/>
          </a:ln>
        </p:spPr>
      </p:pic>
      <p:sp>
        <p:nvSpPr>
          <p:cNvPr id="114" name="Google Shape;114;p14"/>
          <p:cNvSpPr txBox="1"/>
          <p:nvPr/>
        </p:nvSpPr>
        <p:spPr>
          <a:xfrm>
            <a:off x="1943100" y="3405187"/>
            <a:ext cx="229552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3. Proposed Solution</a:t>
            </a:r>
            <a:endParaRPr/>
          </a:p>
        </p:txBody>
      </p:sp>
      <p:pic>
        <p:nvPicPr>
          <p:cNvPr id="115" name="Google Shape;115;p14" descr="image.png"/>
          <p:cNvPicPr preferRelativeResize="0"/>
          <p:nvPr/>
        </p:nvPicPr>
        <p:blipFill rotWithShape="1">
          <a:blip r:embed="rId7">
            <a:alphaModFix/>
          </a:blip>
          <a:srcRect/>
          <a:stretch/>
        </p:blipFill>
        <p:spPr>
          <a:xfrm>
            <a:off x="6724650" y="3429000"/>
            <a:ext cx="285750" cy="228600"/>
          </a:xfrm>
          <a:prstGeom prst="rect">
            <a:avLst/>
          </a:prstGeom>
          <a:noFill/>
          <a:ln>
            <a:noFill/>
          </a:ln>
        </p:spPr>
      </p:pic>
      <p:sp>
        <p:nvSpPr>
          <p:cNvPr id="116" name="Google Shape;116;p14"/>
          <p:cNvSpPr txBox="1"/>
          <p:nvPr/>
        </p:nvSpPr>
        <p:spPr>
          <a:xfrm>
            <a:off x="7200900" y="3405187"/>
            <a:ext cx="252412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4. System Architecture</a:t>
            </a:r>
            <a:endParaRPr/>
          </a:p>
        </p:txBody>
      </p:sp>
      <p:pic>
        <p:nvPicPr>
          <p:cNvPr id="117" name="Google Shape;117;p14" descr="image.png"/>
          <p:cNvPicPr preferRelativeResize="0"/>
          <p:nvPr/>
        </p:nvPicPr>
        <p:blipFill rotWithShape="1">
          <a:blip r:embed="rId8">
            <a:alphaModFix/>
          </a:blip>
          <a:srcRect/>
          <a:stretch/>
        </p:blipFill>
        <p:spPr>
          <a:xfrm>
            <a:off x="1466850" y="4371975"/>
            <a:ext cx="285750" cy="228600"/>
          </a:xfrm>
          <a:prstGeom prst="rect">
            <a:avLst/>
          </a:prstGeom>
          <a:noFill/>
          <a:ln>
            <a:noFill/>
          </a:ln>
        </p:spPr>
      </p:pic>
      <p:sp>
        <p:nvSpPr>
          <p:cNvPr id="118" name="Google Shape;118;p14"/>
          <p:cNvSpPr txBox="1"/>
          <p:nvPr/>
        </p:nvSpPr>
        <p:spPr>
          <a:xfrm>
            <a:off x="1943100" y="4348162"/>
            <a:ext cx="260032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5. Live Demo Highlights</a:t>
            </a:r>
            <a:endParaRPr/>
          </a:p>
        </p:txBody>
      </p:sp>
      <p:pic>
        <p:nvPicPr>
          <p:cNvPr id="119" name="Google Shape;119;p14" descr="image.png"/>
          <p:cNvPicPr preferRelativeResize="0"/>
          <p:nvPr/>
        </p:nvPicPr>
        <p:blipFill rotWithShape="1">
          <a:blip r:embed="rId9">
            <a:alphaModFix/>
          </a:blip>
          <a:srcRect/>
          <a:stretch/>
        </p:blipFill>
        <p:spPr>
          <a:xfrm>
            <a:off x="6724650" y="4371975"/>
            <a:ext cx="285750" cy="228600"/>
          </a:xfrm>
          <a:prstGeom prst="rect">
            <a:avLst/>
          </a:prstGeom>
          <a:noFill/>
          <a:ln>
            <a:noFill/>
          </a:ln>
        </p:spPr>
      </p:pic>
      <p:sp>
        <p:nvSpPr>
          <p:cNvPr id="120" name="Google Shape;120;p14"/>
          <p:cNvSpPr txBox="1"/>
          <p:nvPr/>
        </p:nvSpPr>
        <p:spPr>
          <a:xfrm>
            <a:off x="7200900" y="4348162"/>
            <a:ext cx="298132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6. Embedded Project Video</a:t>
            </a:r>
            <a:endParaRPr/>
          </a:p>
        </p:txBody>
      </p:sp>
      <p:pic>
        <p:nvPicPr>
          <p:cNvPr id="121" name="Google Shape;121;p14" descr="image.png"/>
          <p:cNvPicPr preferRelativeResize="0"/>
          <p:nvPr/>
        </p:nvPicPr>
        <p:blipFill rotWithShape="1">
          <a:blip r:embed="rId10">
            <a:alphaModFix/>
          </a:blip>
          <a:srcRect/>
          <a:stretch/>
        </p:blipFill>
        <p:spPr>
          <a:xfrm>
            <a:off x="1466850" y="5314950"/>
            <a:ext cx="285750" cy="228600"/>
          </a:xfrm>
          <a:prstGeom prst="rect">
            <a:avLst/>
          </a:prstGeom>
          <a:noFill/>
          <a:ln>
            <a:noFill/>
          </a:ln>
        </p:spPr>
      </p:pic>
      <p:sp>
        <p:nvSpPr>
          <p:cNvPr id="122" name="Google Shape;122;p14"/>
          <p:cNvSpPr txBox="1"/>
          <p:nvPr/>
        </p:nvSpPr>
        <p:spPr>
          <a:xfrm>
            <a:off x="1943100" y="5291137"/>
            <a:ext cx="149542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7. Conclusion</a:t>
            </a:r>
            <a:endParaRPr/>
          </a:p>
        </p:txBody>
      </p:sp>
      <p:pic>
        <p:nvPicPr>
          <p:cNvPr id="123" name="Google Shape;123;p14" descr="image.png"/>
          <p:cNvPicPr preferRelativeResize="0"/>
          <p:nvPr/>
        </p:nvPicPr>
        <p:blipFill rotWithShape="1">
          <a:blip r:embed="rId11">
            <a:alphaModFix/>
          </a:blip>
          <a:srcRect/>
          <a:stretch/>
        </p:blipFill>
        <p:spPr>
          <a:xfrm>
            <a:off x="6724650" y="5314950"/>
            <a:ext cx="285750" cy="228600"/>
          </a:xfrm>
          <a:prstGeom prst="rect">
            <a:avLst/>
          </a:prstGeom>
          <a:noFill/>
          <a:ln>
            <a:noFill/>
          </a:ln>
        </p:spPr>
      </p:pic>
      <p:sp>
        <p:nvSpPr>
          <p:cNvPr id="124" name="Google Shape;124;p14"/>
          <p:cNvSpPr txBox="1"/>
          <p:nvPr/>
        </p:nvSpPr>
        <p:spPr>
          <a:xfrm>
            <a:off x="7200900" y="5291137"/>
            <a:ext cx="17335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1E293B"/>
                </a:solidFill>
                <a:latin typeface="Inter SemiBold"/>
                <a:ea typeface="Inter SemiBold"/>
                <a:cs typeface="Inter SemiBold"/>
                <a:sym typeface="Inter SemiBold"/>
              </a:rPr>
              <a:t>8. Future Scope</a:t>
            </a:r>
            <a:endParaRPr/>
          </a:p>
        </p:txBody>
      </p:sp>
      <p:sp>
        <p:nvSpPr>
          <p:cNvPr id="125" name="Google Shape;125;p14"/>
          <p:cNvSpPr txBox="1"/>
          <p:nvPr/>
        </p:nvSpPr>
        <p:spPr>
          <a:xfrm>
            <a:off x="295275" y="571500"/>
            <a:ext cx="11601450" cy="600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a:solidFill>
                  <a:srgbClr val="1B3A6B"/>
                </a:solidFill>
                <a:latin typeface="Poppins SemiBold"/>
                <a:ea typeface="Poppins SemiBold"/>
                <a:cs typeface="Poppins SemiBold"/>
                <a:sym typeface="Poppins SemiBold"/>
              </a:rPr>
              <a:t>PRESENTATION OUTLINE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pic>
        <p:nvPicPr>
          <p:cNvPr id="130" name="Google Shape;130;p15" descr="image.png"/>
          <p:cNvPicPr preferRelativeResize="0"/>
          <p:nvPr/>
        </p:nvPicPr>
        <p:blipFill rotWithShape="1">
          <a:blip r:embed="rId3">
            <a:alphaModFix/>
          </a:blip>
          <a:srcRect/>
          <a:stretch/>
        </p:blipFill>
        <p:spPr>
          <a:xfrm>
            <a:off x="-19050" y="-90035"/>
            <a:ext cx="12192000" cy="6858000"/>
          </a:xfrm>
          <a:prstGeom prst="rect">
            <a:avLst/>
          </a:prstGeom>
          <a:noFill/>
          <a:ln>
            <a:noFill/>
          </a:ln>
        </p:spPr>
      </p:pic>
      <p:pic>
        <p:nvPicPr>
          <p:cNvPr id="131" name="Google Shape;131;p15" descr="image.png"/>
          <p:cNvPicPr preferRelativeResize="0"/>
          <p:nvPr/>
        </p:nvPicPr>
        <p:blipFill rotWithShape="1">
          <a:blip r:embed="rId4">
            <a:alphaModFix/>
          </a:blip>
          <a:srcRect/>
          <a:stretch/>
        </p:blipFill>
        <p:spPr>
          <a:xfrm>
            <a:off x="6381750" y="1552575"/>
            <a:ext cx="5238750" cy="4572000"/>
          </a:xfrm>
          <a:prstGeom prst="rect">
            <a:avLst/>
          </a:prstGeom>
          <a:noFill/>
          <a:ln>
            <a:noFill/>
          </a:ln>
        </p:spPr>
      </p:pic>
      <p:sp>
        <p:nvSpPr>
          <p:cNvPr id="133" name="Google Shape;133;p15"/>
          <p:cNvSpPr txBox="1"/>
          <p:nvPr/>
        </p:nvSpPr>
        <p:spPr>
          <a:xfrm>
            <a:off x="571500" y="2133600"/>
            <a:ext cx="11297412"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75569"/>
                </a:solidFill>
                <a:latin typeface="Inter"/>
                <a:ea typeface="Inter"/>
                <a:cs typeface="Inter"/>
                <a:sym typeface="Inter"/>
              </a:rPr>
              <a:t>.</a:t>
            </a:r>
            <a:endParaRPr dirty="0"/>
          </a:p>
        </p:txBody>
      </p:sp>
      <p:sp>
        <p:nvSpPr>
          <p:cNvPr id="141" name="Google Shape;141;p15"/>
          <p:cNvSpPr txBox="1"/>
          <p:nvPr/>
        </p:nvSpPr>
        <p:spPr>
          <a:xfrm>
            <a:off x="571500" y="5715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B3A6B"/>
                </a:solidFill>
                <a:latin typeface="Poppins SemiBold"/>
                <a:ea typeface="Poppins SemiBold"/>
                <a:cs typeface="Poppins SemiBold"/>
                <a:sym typeface="Poppins SemiBold"/>
              </a:rPr>
              <a:t>ABSTRACT OF THE PROJECT</a:t>
            </a:r>
            <a:endParaRPr/>
          </a:p>
        </p:txBody>
      </p:sp>
      <p:sp>
        <p:nvSpPr>
          <p:cNvPr id="2" name="TextBox 1">
            <a:extLst>
              <a:ext uri="{FF2B5EF4-FFF2-40B4-BE49-F238E27FC236}">
                <a16:creationId xmlns:a16="http://schemas.microsoft.com/office/drawing/2014/main" id="{CB40FC2C-07CC-6BCF-8BED-A74FC28C90B2}"/>
              </a:ext>
            </a:extLst>
          </p:cNvPr>
          <p:cNvSpPr txBox="1"/>
          <p:nvPr/>
        </p:nvSpPr>
        <p:spPr>
          <a:xfrm>
            <a:off x="429768" y="1289304"/>
            <a:ext cx="11009376" cy="6001643"/>
          </a:xfrm>
          <a:prstGeom prst="rect">
            <a:avLst/>
          </a:prstGeom>
          <a:noFill/>
        </p:spPr>
        <p:txBody>
          <a:bodyPr wrap="square" rtlCol="0">
            <a:spAutoFit/>
          </a:bodyPr>
          <a:lstStyle/>
          <a:p>
            <a:pPr algn="just"/>
            <a:r>
              <a:rPr lang="en-US" sz="1600" dirty="0"/>
              <a:t>This project identifies and analyses this phenomenon as the 'AI Trust Paradox' — a multi-dimensional construct manifesting across three interconnected dimensions: (1) use-despite-distrust, where developers continue daily AI tool usage despite low trust in code accuracy; (2) the adoption-ethics gap, where high adoption coexists with deep skepticism about AI ethics and governance; and (3) the utility-threat tension, where developers acknowledge AI productivity benefits while simultaneously fearing job displacement. By analyzing the Stack Overflow Developer Survey (N=48,195), we statistically proved the tension between the </a:t>
            </a:r>
            <a:r>
              <a:rPr lang="en-US" sz="1600" b="1" dirty="0"/>
              <a:t>necessity of AI adoption and the critical distrust of its outputs.</a:t>
            </a:r>
            <a:r>
              <a:rPr lang="en-US" sz="1600" dirty="0"/>
              <a:t>". These insights are visualized in an interactive HTML dashboard and explained through a custom Copilot Studio AI agent.</a:t>
            </a:r>
          </a:p>
          <a:p>
            <a:pPr algn="just"/>
            <a:endParaRPr lang="en-US" sz="1600" dirty="0"/>
          </a:p>
          <a:p>
            <a:pPr algn="just"/>
            <a:r>
              <a:rPr lang="en-US" sz="1600" b="1" dirty="0"/>
              <a:t>Tools used: </a:t>
            </a:r>
          </a:p>
          <a:p>
            <a:pPr algn="just"/>
            <a:r>
              <a:rPr lang="en-US" sz="1600" b="1" dirty="0"/>
              <a:t>Python, Pandas &amp; SciPy:</a:t>
            </a:r>
            <a:r>
              <a:rPr lang="en-US" sz="1600" dirty="0"/>
              <a:t> For robust data extraction, cleaning, and statistical hypothesis testing.</a:t>
            </a:r>
          </a:p>
          <a:p>
            <a:pPr algn="just"/>
            <a:r>
              <a:rPr lang="en-US" sz="1600" b="1" dirty="0"/>
              <a:t>Google </a:t>
            </a:r>
            <a:r>
              <a:rPr lang="en-US" sz="1600" b="1" dirty="0" err="1"/>
              <a:t>Colab</a:t>
            </a:r>
            <a:r>
              <a:rPr lang="en-US" sz="1600" b="1" dirty="0"/>
              <a:t> &amp; Excel:</a:t>
            </a:r>
            <a:r>
              <a:rPr lang="en-US" sz="1600" dirty="0"/>
              <a:t> Utilized for cloud-based code execution and initial data profiling.</a:t>
            </a:r>
          </a:p>
          <a:p>
            <a:pPr algn="just"/>
            <a:r>
              <a:rPr lang="en-US" sz="1600" b="1" dirty="0"/>
              <a:t>Microsoft Copilot Studio:</a:t>
            </a:r>
            <a:r>
              <a:rPr lang="en-US" sz="1600" dirty="0"/>
              <a:t> To develop and deploy a conversational AI agent capable of interpreting complex dataset insights for stakeholders.</a:t>
            </a:r>
          </a:p>
          <a:p>
            <a:pPr algn="just"/>
            <a:r>
              <a:rPr lang="en-US" sz="1600" b="1" dirty="0"/>
              <a:t>Copilot Studio: </a:t>
            </a:r>
            <a:r>
              <a:rPr lang="en-US" sz="1600" dirty="0"/>
              <a:t>used for interpretation and refinement of results</a:t>
            </a:r>
          </a:p>
          <a:p>
            <a:pPr algn="just"/>
            <a:r>
              <a:rPr lang="en-US" sz="1600" b="1" dirty="0" err="1"/>
              <a:t>Github</a:t>
            </a:r>
            <a:r>
              <a:rPr lang="en-US" sz="1600" b="1" dirty="0"/>
              <a:t>: </a:t>
            </a:r>
            <a:r>
              <a:rPr lang="en-US" sz="1600" dirty="0"/>
              <a:t>For project organization, deployment, and AI-assisted scripting.</a:t>
            </a:r>
          </a:p>
          <a:p>
            <a:pPr algn="just"/>
            <a:endParaRPr lang="en-US" sz="1600" b="1" dirty="0"/>
          </a:p>
          <a:p>
            <a:pPr algn="just"/>
            <a:r>
              <a:rPr lang="en-US" sz="1600" b="1" dirty="0"/>
              <a:t>Expected outcomes:</a:t>
            </a:r>
          </a:p>
          <a:p>
            <a:pPr algn="just"/>
            <a:r>
              <a:rPr lang="en-US" sz="1600" dirty="0"/>
              <a:t>The outcomes include the empirical validation of the "AI Trust Paradox," statistically proving the stark disconnect between high AI adoption and low user trust. Additionally, the project delivers an interactive HTML dashboard and a Copilot Studio agent to make these complex insights accessible to all stakeholders.</a:t>
            </a:r>
            <a:endParaRPr lang="en-US" sz="1600" b="1" dirty="0"/>
          </a:p>
          <a:p>
            <a:pPr algn="just"/>
            <a:endParaRPr lang="en-US" sz="1600" b="1" dirty="0"/>
          </a:p>
          <a:p>
            <a:pPr algn="just"/>
            <a:endParaRPr lang="en-US" sz="1600" b="1" dirty="0"/>
          </a:p>
          <a:p>
            <a:pPr algn="just"/>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0"/>
        <p:cNvGrpSpPr/>
        <p:nvPr/>
      </p:nvGrpSpPr>
      <p:grpSpPr>
        <a:xfrm>
          <a:off x="0" y="0"/>
          <a:ext cx="0" cy="0"/>
          <a:chOff x="0" y="0"/>
          <a:chExt cx="0" cy="0"/>
        </a:xfrm>
      </p:grpSpPr>
      <p:pic>
        <p:nvPicPr>
          <p:cNvPr id="151" name="Google Shape;151;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1" name="Google Shape;161;p16"/>
          <p:cNvSpPr txBox="1"/>
          <p:nvPr/>
        </p:nvSpPr>
        <p:spPr>
          <a:xfrm>
            <a:off x="571500" y="5715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B3A6B"/>
                </a:solidFill>
                <a:latin typeface="Poppins SemiBold"/>
                <a:ea typeface="Poppins SemiBold"/>
                <a:cs typeface="Poppins SemiBold"/>
                <a:sym typeface="Poppins SemiBold"/>
              </a:rPr>
              <a:t>PROBLEM STATEMENT</a:t>
            </a:r>
            <a:endParaRPr/>
          </a:p>
        </p:txBody>
      </p:sp>
      <p:sp>
        <p:nvSpPr>
          <p:cNvPr id="2" name="TextBox 1">
            <a:extLst>
              <a:ext uri="{FF2B5EF4-FFF2-40B4-BE49-F238E27FC236}">
                <a16:creationId xmlns:a16="http://schemas.microsoft.com/office/drawing/2014/main" id="{EFC71F87-0AB0-404F-9535-FA845CE34E01}"/>
              </a:ext>
            </a:extLst>
          </p:cNvPr>
          <p:cNvSpPr txBox="1"/>
          <p:nvPr/>
        </p:nvSpPr>
        <p:spPr>
          <a:xfrm>
            <a:off x="447294" y="987552"/>
            <a:ext cx="11297412" cy="7201972"/>
          </a:xfrm>
          <a:prstGeom prst="rect">
            <a:avLst/>
          </a:prstGeom>
          <a:noFill/>
        </p:spPr>
        <p:txBody>
          <a:bodyPr wrap="square" rtlCol="0">
            <a:spAutoFit/>
          </a:bodyPr>
          <a:lstStyle/>
          <a:p>
            <a:r>
              <a:rPr lang="en-US" b="1" dirty="0"/>
              <a:t>The Core Problem</a:t>
            </a:r>
          </a:p>
          <a:p>
            <a:pPr marL="285750" indent="-285750">
              <a:buFont typeface="Arial" panose="020B0604020202020204" pitchFamily="34" charset="0"/>
              <a:buChar char="•"/>
            </a:pPr>
            <a:r>
              <a:rPr lang="en-US" dirty="0"/>
              <a:t>The fundamental issue is the breakdown of the </a:t>
            </a:r>
            <a:r>
              <a:rPr lang="en-US" b="1" dirty="0"/>
              <a:t>Technology Acceptance Model (TAM)</a:t>
            </a:r>
            <a:r>
              <a:rPr lang="en-US" dirty="0"/>
              <a:t>. Traditionally, trust is a prerequisite for adoption; however, in the modern developer workflow, we see a "Forced Adoption" model. Developers are increasingly utilizing AI tools for productivity while simultaneously maintaining a high level of analytical distrust in the output.</a:t>
            </a:r>
          </a:p>
          <a:p>
            <a:pPr marL="285750" indent="-285750">
              <a:buFont typeface="Arial" panose="020B0604020202020204" pitchFamily="34" charset="0"/>
              <a:buChar char="•"/>
            </a:pPr>
            <a:endParaRPr lang="en-US" dirty="0"/>
          </a:p>
          <a:p>
            <a:r>
              <a:rPr lang="en-US" b="1" dirty="0"/>
              <a:t>Significance &amp; Challenge</a:t>
            </a:r>
          </a:p>
          <a:p>
            <a:pPr marL="285750" indent="-285750">
              <a:buFont typeface="Arial" panose="020B0604020202020204" pitchFamily="34" charset="0"/>
              <a:buChar char="•"/>
            </a:pPr>
            <a:r>
              <a:rPr lang="en-US" b="1" dirty="0"/>
              <a:t>The Trust Gap:</a:t>
            </a:r>
            <a:r>
              <a:rPr lang="en-US" dirty="0"/>
              <a:t> Only </a:t>
            </a:r>
            <a:r>
              <a:rPr lang="en-US" b="1" dirty="0"/>
              <a:t>3.1%</a:t>
            </a:r>
            <a:r>
              <a:rPr lang="en-US" dirty="0"/>
              <a:t> of developers highly trust AI, yet </a:t>
            </a:r>
            <a:r>
              <a:rPr lang="en-US" b="1" dirty="0"/>
              <a:t>78.5%</a:t>
            </a:r>
            <a:r>
              <a:rPr lang="en-US" dirty="0"/>
              <a:t> use it daily.</a:t>
            </a:r>
          </a:p>
          <a:p>
            <a:pPr marL="285750" indent="-285750">
              <a:buFont typeface="Arial" panose="020B0604020202020204" pitchFamily="34" charset="0"/>
              <a:buChar char="•"/>
            </a:pPr>
            <a:r>
              <a:rPr lang="en-US" b="1" dirty="0"/>
              <a:t>The Challenge:</a:t>
            </a:r>
            <a:r>
              <a:rPr lang="en-US" dirty="0"/>
              <a:t> This creates a high cognitive load known as </a:t>
            </a:r>
            <a:r>
              <a:rPr lang="en-US" b="1" dirty="0"/>
              <a:t>"Verification Fatigue,"</a:t>
            </a:r>
            <a:r>
              <a:rPr lang="en-US" dirty="0"/>
              <a:t> where developers spend excessive time cross-referencing AI-generated code, potentially negating the very productivity gains the tools promise.</a:t>
            </a:r>
          </a:p>
          <a:p>
            <a:pPr marL="285750" indent="-285750">
              <a:buFont typeface="Arial" panose="020B0604020202020204" pitchFamily="34" charset="0"/>
              <a:buChar char="•"/>
            </a:pPr>
            <a:endParaRPr lang="en-US" dirty="0"/>
          </a:p>
          <a:p>
            <a:r>
              <a:rPr lang="en-US" b="1" dirty="0"/>
              <a:t>Who is Affected?</a:t>
            </a:r>
          </a:p>
          <a:p>
            <a:pPr marL="285750" indent="-285750">
              <a:buFont typeface="Arial" panose="020B0604020202020204" pitchFamily="34" charset="0"/>
              <a:buChar char="•"/>
            </a:pPr>
            <a:r>
              <a:rPr lang="en-US" b="1" dirty="0"/>
              <a:t>Individual Developers:</a:t>
            </a:r>
            <a:r>
              <a:rPr lang="en-US" dirty="0"/>
              <a:t> Faced with anxiety regarding job security and the pressure to produce code faster using tools they don't fully trust.</a:t>
            </a:r>
          </a:p>
          <a:p>
            <a:pPr marL="285750" indent="-285750">
              <a:buFont typeface="Arial" panose="020B0604020202020204" pitchFamily="34" charset="0"/>
              <a:buChar char="•"/>
            </a:pPr>
            <a:r>
              <a:rPr lang="en-US" b="1" dirty="0"/>
              <a:t>Tech Managers:</a:t>
            </a:r>
            <a:r>
              <a:rPr lang="en-US" dirty="0"/>
              <a:t> Struggling to balance team velocity with the risk of technical debt or "hallucinated" code entering production.</a:t>
            </a:r>
          </a:p>
          <a:p>
            <a:pPr marL="285750" indent="-285750">
              <a:buFont typeface="Arial" panose="020B0604020202020204" pitchFamily="34" charset="0"/>
              <a:buChar char="•"/>
            </a:pPr>
            <a:r>
              <a:rPr lang="en-US" b="1" dirty="0"/>
              <a:t>Organizations:</a:t>
            </a:r>
            <a:r>
              <a:rPr lang="en-US" dirty="0"/>
              <a:t> Investing heavily in AI licenses without understanding the psychological barriers preventing their engineers from fully relying on these tools.</a:t>
            </a:r>
          </a:p>
          <a:p>
            <a:pPr marL="285750" indent="-285750">
              <a:buFont typeface="Arial" panose="020B0604020202020204" pitchFamily="34" charset="0"/>
              <a:buChar char="•"/>
            </a:pPr>
            <a:endParaRPr lang="en-US" dirty="0"/>
          </a:p>
          <a:p>
            <a:r>
              <a:rPr lang="en-US" b="1" dirty="0"/>
              <a:t>Limitations of Existing Approaches</a:t>
            </a:r>
          </a:p>
          <a:p>
            <a:pPr marL="285750" indent="-285750">
              <a:buFont typeface="Arial" panose="020B0604020202020204" pitchFamily="34" charset="0"/>
              <a:buChar char="•"/>
            </a:pPr>
            <a:r>
              <a:rPr lang="en-US" b="1" dirty="0"/>
              <a:t>Metric Myopia:</a:t>
            </a:r>
            <a:r>
              <a:rPr lang="en-US" dirty="0"/>
              <a:t> Current industry reports focus almost exclusively on </a:t>
            </a:r>
            <a:r>
              <a:rPr lang="en-US" b="1" dirty="0"/>
              <a:t>adoption rates</a:t>
            </a:r>
            <a:r>
              <a:rPr lang="en-US" dirty="0"/>
              <a:t> (how many people use AI) or </a:t>
            </a:r>
            <a:r>
              <a:rPr lang="en-US" b="1" dirty="0"/>
              <a:t>technical benchmarks</a:t>
            </a:r>
            <a:r>
              <a:rPr lang="en-US" dirty="0"/>
              <a:t> (how accurate the AI is), completely ignoring the </a:t>
            </a:r>
            <a:r>
              <a:rPr lang="en-US" b="1" dirty="0"/>
              <a:t>human-centric sentiment gap</a:t>
            </a:r>
            <a:r>
              <a:rPr lang="en-US" dirty="0"/>
              <a:t> between the two.</a:t>
            </a:r>
          </a:p>
          <a:p>
            <a:pPr marL="285750" indent="-285750">
              <a:buFont typeface="Arial" panose="020B0604020202020204" pitchFamily="34" charset="0"/>
              <a:buChar char="•"/>
            </a:pPr>
            <a:r>
              <a:rPr lang="en-US" b="1" dirty="0"/>
              <a:t>Static Analysis:</a:t>
            </a:r>
            <a:r>
              <a:rPr lang="en-US" dirty="0"/>
              <a:t> Existing tools provide raw numbers but fail to explain the </a:t>
            </a:r>
            <a:r>
              <a:rPr lang="en-US" i="1" dirty="0"/>
              <a:t>relationship</a:t>
            </a:r>
            <a:r>
              <a:rPr lang="en-US" dirty="0"/>
              <a:t> between developer experience, tool utility, and professional skepticism.</a:t>
            </a:r>
          </a:p>
          <a:p>
            <a:pPr marL="285750" indent="-285750">
              <a:buFont typeface="Arial" panose="020B0604020202020204" pitchFamily="34" charset="0"/>
              <a:buChar char="•"/>
            </a:pPr>
            <a:endParaRPr lang="en-US" dirty="0"/>
          </a:p>
          <a:p>
            <a:r>
              <a:rPr lang="en-US" b="1" dirty="0"/>
              <a:t>Scope and Boundaries</a:t>
            </a:r>
          </a:p>
          <a:p>
            <a:pPr marL="285750" indent="-285750">
              <a:buFont typeface="Arial" panose="020B0604020202020204" pitchFamily="34" charset="0"/>
              <a:buChar char="•"/>
            </a:pPr>
            <a:r>
              <a:rPr lang="en-US" b="1" dirty="0"/>
              <a:t>In-Scope:</a:t>
            </a:r>
            <a:r>
              <a:rPr lang="en-US" dirty="0"/>
              <a:t> Analysis of the 2025 Stack Overflow Developer Survey data (N=48,195) focusing specifically on professional software developers across 177 countries.</a:t>
            </a:r>
          </a:p>
          <a:p>
            <a:pPr marL="285750" indent="-285750">
              <a:buFont typeface="Arial" panose="020B0604020202020204" pitchFamily="34" charset="0"/>
              <a:buChar char="•"/>
            </a:pPr>
            <a:r>
              <a:rPr lang="en-US" b="1" dirty="0"/>
              <a:t>Out-of-Scope:</a:t>
            </a:r>
            <a:r>
              <a:rPr lang="en-US" dirty="0"/>
              <a:t> This project does not evaluate the technical accuracy of specific LLMs (e.g., GPT-4 vs. Claude) or general consumer AI usage; it is strictly bounded to the </a:t>
            </a:r>
            <a:r>
              <a:rPr lang="en-US" b="1" dirty="0"/>
              <a:t>developer-tool relationship</a:t>
            </a:r>
            <a:r>
              <a:rPr lang="en-US" dirty="0"/>
              <a:t> within professional environments.</a:t>
            </a:r>
          </a:p>
          <a:p>
            <a:endParaRPr lang="en-US" dirty="0"/>
          </a:p>
          <a:p>
            <a:endParaRPr lang="en-US" dirty="0"/>
          </a:p>
          <a:p>
            <a:endParaRPr lang="en-US" dirty="0"/>
          </a:p>
          <a:p>
            <a:endParaRPr lang="en-US"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a:extLst>
            <a:ext uri="{FF2B5EF4-FFF2-40B4-BE49-F238E27FC236}">
              <a16:creationId xmlns:a16="http://schemas.microsoft.com/office/drawing/2014/main" id="{E802ED81-FF9E-3B42-413D-1CFC8C652E00}"/>
            </a:ext>
          </a:extLst>
        </p:cNvPr>
        <p:cNvGrpSpPr/>
        <p:nvPr/>
      </p:nvGrpSpPr>
      <p:grpSpPr>
        <a:xfrm>
          <a:off x="0" y="0"/>
          <a:ext cx="0" cy="0"/>
          <a:chOff x="0" y="0"/>
          <a:chExt cx="0" cy="0"/>
        </a:xfrm>
      </p:grpSpPr>
      <p:pic>
        <p:nvPicPr>
          <p:cNvPr id="151" name="Google Shape;151;p16" descr="image.png">
            <a:extLst>
              <a:ext uri="{FF2B5EF4-FFF2-40B4-BE49-F238E27FC236}">
                <a16:creationId xmlns:a16="http://schemas.microsoft.com/office/drawing/2014/main" id="{AEFC7A64-8A49-FF59-4301-3C7806A2C70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1" name="Google Shape;161;p16">
            <a:extLst>
              <a:ext uri="{FF2B5EF4-FFF2-40B4-BE49-F238E27FC236}">
                <a16:creationId xmlns:a16="http://schemas.microsoft.com/office/drawing/2014/main" id="{CB6D9D41-DC5D-4B9A-D090-E4578D59AD9D}"/>
              </a:ext>
            </a:extLst>
          </p:cNvPr>
          <p:cNvSpPr txBox="1"/>
          <p:nvPr/>
        </p:nvSpPr>
        <p:spPr>
          <a:xfrm>
            <a:off x="447294" y="387477"/>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B3A6B"/>
                </a:solidFill>
                <a:latin typeface="Poppins SemiBold"/>
                <a:ea typeface="Poppins SemiBold"/>
                <a:cs typeface="Poppins SemiBold"/>
                <a:sym typeface="Poppins SemiBold"/>
              </a:rPr>
              <a:t>PROPOSED SOLUTION</a:t>
            </a:r>
            <a:endParaRPr dirty="0"/>
          </a:p>
        </p:txBody>
      </p:sp>
      <p:sp>
        <p:nvSpPr>
          <p:cNvPr id="2" name="TextBox 1">
            <a:extLst>
              <a:ext uri="{FF2B5EF4-FFF2-40B4-BE49-F238E27FC236}">
                <a16:creationId xmlns:a16="http://schemas.microsoft.com/office/drawing/2014/main" id="{9BB198B0-893A-69D2-87E5-C7AB11A539AE}"/>
              </a:ext>
            </a:extLst>
          </p:cNvPr>
          <p:cNvSpPr txBox="1"/>
          <p:nvPr/>
        </p:nvSpPr>
        <p:spPr>
          <a:xfrm>
            <a:off x="447294" y="987552"/>
            <a:ext cx="11297412" cy="1169551"/>
          </a:xfrm>
          <a:prstGeom prst="rect">
            <a:avLst/>
          </a:prstGeom>
          <a:noFill/>
        </p:spPr>
        <p:txBody>
          <a:bodyPr wrap="square" rtlCol="0">
            <a:spAutoFit/>
          </a:bodyPr>
          <a:lstStyle/>
          <a:p>
            <a:endParaRPr lang="en-US" dirty="0"/>
          </a:p>
          <a:p>
            <a:endParaRPr lang="en-US" dirty="0"/>
          </a:p>
          <a:p>
            <a:endParaRPr lang="en-US" dirty="0"/>
          </a:p>
          <a:p>
            <a:endParaRPr lang="en-US" dirty="0"/>
          </a:p>
          <a:p>
            <a:endParaRPr lang="en-IN" dirty="0"/>
          </a:p>
        </p:txBody>
      </p:sp>
      <p:sp>
        <p:nvSpPr>
          <p:cNvPr id="3" name="TextBox 2">
            <a:extLst>
              <a:ext uri="{FF2B5EF4-FFF2-40B4-BE49-F238E27FC236}">
                <a16:creationId xmlns:a16="http://schemas.microsoft.com/office/drawing/2014/main" id="{13E50852-13F2-D088-085D-3D97E38065F1}"/>
              </a:ext>
            </a:extLst>
          </p:cNvPr>
          <p:cNvSpPr txBox="1"/>
          <p:nvPr/>
        </p:nvSpPr>
        <p:spPr>
          <a:xfrm>
            <a:off x="447294" y="872225"/>
            <a:ext cx="11601450" cy="6340197"/>
          </a:xfrm>
          <a:prstGeom prst="rect">
            <a:avLst/>
          </a:prstGeom>
          <a:noFill/>
        </p:spPr>
        <p:txBody>
          <a:bodyPr wrap="square" rtlCol="0">
            <a:spAutoFit/>
          </a:bodyPr>
          <a:lstStyle/>
          <a:p>
            <a:r>
              <a:rPr lang="en-US" b="1" dirty="0"/>
              <a:t>Proposed Solution: The AI Trust-Sentiment Framework</a:t>
            </a:r>
          </a:p>
          <a:p>
            <a:pPr marL="285750" indent="-285750">
              <a:buFont typeface="Arial" panose="020B0604020202020204" pitchFamily="34" charset="0"/>
              <a:buChar char="•"/>
            </a:pPr>
            <a:r>
              <a:rPr lang="en-US" dirty="0"/>
              <a:t>The proposed solution addresses the "AI Trust Paradox" by moving beyond simple adoption metrics and focusing on the human-centric sentiment gap. It provides a multi-layered analytical framework that transforms raw data into actionable insights through statistical validation, interactive visualization, and conversational AI.</a:t>
            </a:r>
          </a:p>
          <a:p>
            <a:pPr marL="285750" indent="-285750">
              <a:buFont typeface="Arial" panose="020B0604020202020204" pitchFamily="34" charset="0"/>
              <a:buChar char="•"/>
            </a:pPr>
            <a:endParaRPr lang="en-US" dirty="0"/>
          </a:p>
          <a:p>
            <a:r>
              <a:rPr lang="en-US" b="1" dirty="0"/>
              <a:t>Approach to Solving the Problem</a:t>
            </a:r>
          </a:p>
          <a:p>
            <a:pPr marL="285750" indent="-285750">
              <a:buFont typeface="Arial" panose="020B0604020202020204" pitchFamily="34" charset="0"/>
              <a:buChar char="•"/>
            </a:pPr>
            <a:r>
              <a:rPr lang="en-US" dirty="0"/>
              <a:t>Traditional industry reports focus on </a:t>
            </a:r>
            <a:r>
              <a:rPr lang="en-US" i="1" dirty="0"/>
              <a:t>how many</a:t>
            </a:r>
            <a:r>
              <a:rPr lang="en-US" dirty="0"/>
              <a:t> developers use AI. This approach solves the problem by investigating </a:t>
            </a:r>
            <a:r>
              <a:rPr lang="en-US" i="1" dirty="0"/>
              <a:t>how</a:t>
            </a:r>
            <a:r>
              <a:rPr lang="en-US" dirty="0"/>
              <a:t> they feel and </a:t>
            </a:r>
            <a:r>
              <a:rPr lang="en-US" i="1" dirty="0"/>
              <a:t>why</a:t>
            </a:r>
            <a:r>
              <a:rPr lang="en-US" dirty="0"/>
              <a:t> they distrust the tools they use. By quantifying "Verification Fatigue" and "Utility-Threat Tension," the solution highlights the hidden cognitive costs of AI adoption, allowing organizations to move from forced adoption to informed trust.</a:t>
            </a:r>
          </a:p>
          <a:p>
            <a:pPr marL="285750" indent="-285750">
              <a:buFont typeface="Arial" panose="020B0604020202020204" pitchFamily="34" charset="0"/>
              <a:buChar char="•"/>
            </a:pPr>
            <a:endParaRPr lang="en-US" dirty="0"/>
          </a:p>
          <a:p>
            <a:r>
              <a:rPr lang="en-US" b="1" dirty="0"/>
              <a:t>Methodology, Tools, and Steps</a:t>
            </a:r>
          </a:p>
          <a:p>
            <a:pPr marL="285750" indent="-285750">
              <a:buFont typeface="Arial" panose="020B0604020202020204" pitchFamily="34" charset="0"/>
              <a:buChar char="•"/>
            </a:pPr>
            <a:r>
              <a:rPr lang="en-US" b="1" dirty="0"/>
              <a:t>Data Extraction &amp; Profiling:</a:t>
            </a:r>
            <a:r>
              <a:rPr lang="en-US" dirty="0"/>
              <a:t> Initial data profiling was conducted in </a:t>
            </a:r>
            <a:r>
              <a:rPr lang="en-US" b="1" dirty="0"/>
              <a:t>Excel</a:t>
            </a:r>
            <a:r>
              <a:rPr lang="en-US" dirty="0"/>
              <a:t> to identify key variables from the 2025 Stack Overflow Developer Survey (N=48,195).</a:t>
            </a:r>
          </a:p>
          <a:p>
            <a:pPr marL="285750" indent="-285750">
              <a:buFont typeface="Arial" panose="020B0604020202020204" pitchFamily="34" charset="0"/>
              <a:buChar char="•"/>
            </a:pPr>
            <a:r>
              <a:rPr lang="en-US" b="1" dirty="0"/>
              <a:t>Statistical Validation:</a:t>
            </a:r>
            <a:r>
              <a:rPr lang="en-US" dirty="0"/>
              <a:t> We applied Chi-square and Cramér's V tests to prove the decoupling of usage from trust. </a:t>
            </a:r>
          </a:p>
          <a:p>
            <a:pPr marL="285750" indent="-285750">
              <a:buFont typeface="Arial" panose="020B0604020202020204" pitchFamily="34" charset="0"/>
              <a:buChar char="•"/>
            </a:pPr>
            <a:r>
              <a:rPr lang="en-US" b="1" dirty="0"/>
              <a:t>Visualization Layer:</a:t>
            </a:r>
            <a:r>
              <a:rPr lang="en-US" dirty="0"/>
              <a:t> An interactive, single-file </a:t>
            </a:r>
            <a:r>
              <a:rPr lang="en-US" b="1" dirty="0"/>
              <a:t>HTML dashboard</a:t>
            </a:r>
            <a:r>
              <a:rPr lang="en-US" dirty="0"/>
              <a:t> was developed using python to present the findings across multiple demographic slices (experience levels, geographic regions, and tool frequency).</a:t>
            </a:r>
          </a:p>
          <a:p>
            <a:pPr marL="285750" indent="-285750">
              <a:buFont typeface="Arial" panose="020B0604020202020204" pitchFamily="34" charset="0"/>
              <a:buChar char="•"/>
            </a:pPr>
            <a:r>
              <a:rPr lang="en-US" b="1" dirty="0"/>
              <a:t>Conversational Interpretation:</a:t>
            </a:r>
            <a:r>
              <a:rPr lang="en-US" dirty="0"/>
              <a:t> A custom </a:t>
            </a:r>
            <a:r>
              <a:rPr lang="en-US" b="1" dirty="0"/>
              <a:t>Copilot Studio Agent</a:t>
            </a:r>
            <a:r>
              <a:rPr lang="en-US" dirty="0"/>
              <a:t> was trained on the project's hypothesis and interpretation documents. This allows users to query the data in natural language, making complex statistical findings accessible to non-technical stakeholders.</a:t>
            </a:r>
          </a:p>
          <a:p>
            <a:pPr marL="285750" indent="-285750">
              <a:buFont typeface="Arial" panose="020B0604020202020204" pitchFamily="34" charset="0"/>
              <a:buChar char="•"/>
            </a:pPr>
            <a:r>
              <a:rPr lang="en-US" b="1" dirty="0"/>
              <a:t>Project Management:</a:t>
            </a:r>
            <a:r>
              <a:rPr lang="en-US" dirty="0"/>
              <a:t> All assets, code, and deployment workflows are managed via </a:t>
            </a:r>
            <a:r>
              <a:rPr lang="en-US" b="1" dirty="0"/>
              <a:t>GitHub</a:t>
            </a:r>
            <a:r>
              <a:rPr lang="en-US" dirty="0"/>
              <a:t> for transparent version control and seamless deployment.</a:t>
            </a:r>
          </a:p>
          <a:p>
            <a:pPr marL="285750" indent="-285750">
              <a:buFont typeface="Arial" panose="020B0604020202020204" pitchFamily="34" charset="0"/>
              <a:buChar char="•"/>
            </a:pPr>
            <a:endParaRPr lang="en-US" dirty="0"/>
          </a:p>
          <a:p>
            <a:r>
              <a:rPr lang="en-US" b="1" dirty="0"/>
              <a:t>Key Benefits and Innovations</a:t>
            </a:r>
          </a:p>
          <a:p>
            <a:pPr marL="285750" indent="-285750">
              <a:buFont typeface="Arial" panose="020B0604020202020204" pitchFamily="34" charset="0"/>
              <a:buChar char="•"/>
            </a:pPr>
            <a:r>
              <a:rPr lang="en-US" b="1" dirty="0"/>
              <a:t>From Adoption to Sentiment:</a:t>
            </a:r>
            <a:r>
              <a:rPr lang="en-US" dirty="0"/>
              <a:t> Unlike existing methods that stop at adoption percentages, this solution bridges the gap between technical utility and human distrust.</a:t>
            </a:r>
          </a:p>
          <a:p>
            <a:pPr marL="285750" indent="-285750">
              <a:buFont typeface="Arial" panose="020B0604020202020204" pitchFamily="34" charset="0"/>
              <a:buChar char="•"/>
            </a:pPr>
            <a:r>
              <a:rPr lang="en-US" b="1" dirty="0"/>
              <a:t>Conversational Data Access:</a:t>
            </a:r>
            <a:r>
              <a:rPr lang="en-US" dirty="0"/>
              <a:t> The integration of a </a:t>
            </a:r>
            <a:r>
              <a:rPr lang="en-US" b="1" dirty="0"/>
              <a:t>Copilot Studio Agent</a:t>
            </a:r>
            <a:r>
              <a:rPr lang="en-US" dirty="0"/>
              <a:t> is a significant innovation, as it removes the barrier of entry for data interpretation. Users do not need to read charts; they can simply ask the agent, "Why do experienced developers trust AI less?"</a:t>
            </a:r>
          </a:p>
          <a:p>
            <a:pPr marL="285750" indent="-285750">
              <a:buFont typeface="Arial" panose="020B0604020202020204" pitchFamily="34" charset="0"/>
              <a:buChar char="•"/>
            </a:pPr>
            <a:r>
              <a:rPr lang="en-US" b="1" dirty="0"/>
              <a:t>Empirical Rigor:</a:t>
            </a:r>
            <a:r>
              <a:rPr lang="en-US" dirty="0"/>
              <a:t> By providing </a:t>
            </a:r>
            <a:r>
              <a:rPr lang="en-US" b="1" dirty="0"/>
              <a:t>empirical validation</a:t>
            </a:r>
            <a:r>
              <a:rPr lang="en-US" dirty="0"/>
              <a:t> of the paradox, the project moves the conversation from anecdotal skepticism to mathematically proven workplace trends.</a:t>
            </a:r>
          </a:p>
          <a:p>
            <a:endParaRPr lang="en-IN" dirty="0"/>
          </a:p>
        </p:txBody>
      </p:sp>
    </p:spTree>
    <p:extLst>
      <p:ext uri="{BB962C8B-B14F-4D97-AF65-F5344CB8AC3E}">
        <p14:creationId xmlns:p14="http://schemas.microsoft.com/office/powerpoint/2010/main" val="2162100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73800" y="803893"/>
            <a:ext cx="10972800" cy="585216"/>
          </a:xfrm>
          <a:prstGeom prst="rect">
            <a:avLst/>
          </a:prstGeom>
          <a:noFill/>
          <a:ln/>
        </p:spPr>
        <p:txBody>
          <a:bodyPr wrap="square" rtlCol="0" anchor="ctr"/>
          <a:lstStyle/>
          <a:p>
            <a:r>
              <a:rPr lang="en-US" sz="2667"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667" dirty="0">
              <a:latin typeface="Lato" panose="020F0502020204030203" pitchFamily="34" charset="0"/>
              <a:cs typeface="Arial" panose="020B0604020202020204" pitchFamily="34" charset="0"/>
            </a:endParaRPr>
          </a:p>
        </p:txBody>
      </p:sp>
      <p:sp>
        <p:nvSpPr>
          <p:cNvPr id="6" name="Shape 4"/>
          <p:cNvSpPr/>
          <p:nvPr/>
        </p:nvSpPr>
        <p:spPr>
          <a:xfrm>
            <a:off x="313877" y="1657600"/>
            <a:ext cx="5486400" cy="512064"/>
          </a:xfrm>
          <a:prstGeom prst="rect">
            <a:avLst/>
          </a:prstGeom>
          <a:solidFill>
            <a:schemeClr val="accent1">
              <a:lumMod val="20000"/>
              <a:lumOff val="80000"/>
            </a:schemeClr>
          </a:solidFill>
          <a:ln/>
        </p:spPr>
        <p:txBody>
          <a:bodyPr/>
          <a:lstStyle/>
          <a:p>
            <a:endParaRPr lang="en-IN" sz="1867">
              <a:latin typeface="Lato" panose="020F0502020204030203" pitchFamily="34" charset="0"/>
            </a:endParaRPr>
          </a:p>
        </p:txBody>
      </p:sp>
      <p:sp>
        <p:nvSpPr>
          <p:cNvPr id="7" name="Shape 5"/>
          <p:cNvSpPr/>
          <p:nvPr/>
        </p:nvSpPr>
        <p:spPr>
          <a:xfrm>
            <a:off x="5556437" y="1657600"/>
            <a:ext cx="426720" cy="512064"/>
          </a:xfrm>
          <a:prstGeom prst="rect">
            <a:avLst/>
          </a:prstGeom>
          <a:solidFill>
            <a:srgbClr val="1B3A8A"/>
          </a:solidFill>
          <a:ln/>
        </p:spPr>
        <p:txBody>
          <a:bodyPr/>
          <a:lstStyle/>
          <a:p>
            <a:endParaRPr lang="en-IN" sz="1867">
              <a:latin typeface="Lato" panose="020F0502020204030203" pitchFamily="34" charset="0"/>
            </a:endParaRPr>
          </a:p>
        </p:txBody>
      </p:sp>
      <p:sp>
        <p:nvSpPr>
          <p:cNvPr id="8" name="Text 6"/>
          <p:cNvSpPr/>
          <p:nvPr/>
        </p:nvSpPr>
        <p:spPr>
          <a:xfrm>
            <a:off x="435797" y="1706368"/>
            <a:ext cx="5120640" cy="414528"/>
          </a:xfrm>
          <a:prstGeom prst="rect">
            <a:avLst/>
          </a:prstGeom>
          <a:noFill/>
          <a:ln/>
        </p:spPr>
        <p:txBody>
          <a:bodyPr wrap="square" rtlCol="0" anchor="ctr"/>
          <a:lstStyle/>
          <a:p>
            <a:r>
              <a:rPr lang="en-US" sz="2133" b="1" dirty="0">
                <a:latin typeface="Lato" panose="020F0502020204030203" pitchFamily="34" charset="0"/>
                <a:ea typeface="Calibri" pitchFamily="34" charset="-122"/>
                <a:cs typeface="Arial" panose="020B0604020202020204" pitchFamily="34" charset="0"/>
              </a:rPr>
              <a:t>Data Input / Source</a:t>
            </a:r>
            <a:endParaRPr lang="en-US" sz="2133" dirty="0">
              <a:latin typeface="Lato" panose="020F0502020204030203" pitchFamily="34" charset="0"/>
              <a:cs typeface="Arial" panose="020B0604020202020204" pitchFamily="34" charset="0"/>
            </a:endParaRPr>
          </a:p>
        </p:txBody>
      </p:sp>
      <p:sp>
        <p:nvSpPr>
          <p:cNvPr id="9" name="Text 7"/>
          <p:cNvSpPr/>
          <p:nvPr/>
        </p:nvSpPr>
        <p:spPr>
          <a:xfrm>
            <a:off x="435797" y="2267200"/>
            <a:ext cx="5364480" cy="1584960"/>
          </a:xfrm>
          <a:prstGeom prst="rect">
            <a:avLst/>
          </a:prstGeom>
          <a:noFill/>
          <a:ln/>
        </p:spPr>
        <p:txBody>
          <a:bodyPr wrap="square" rtlCol="0" anchor="t"/>
          <a:lstStyle/>
          <a:p>
            <a:r>
              <a:rPr lang="en-US" sz="2133" dirty="0">
                <a:solidFill>
                  <a:srgbClr val="1A1A2E"/>
                </a:solidFill>
                <a:latin typeface="Lato" panose="020F0502020204030203" pitchFamily="34" charset="0"/>
                <a:ea typeface="Calibri" pitchFamily="34" charset="-122"/>
                <a:cs typeface="Arial" panose="020B0604020202020204" pitchFamily="34" charset="0"/>
              </a:rPr>
              <a:t>Stack Overflow Developer Survey, 2025</a:t>
            </a:r>
            <a:br>
              <a:rPr lang="en-US" sz="2133" dirty="0">
                <a:solidFill>
                  <a:srgbClr val="1A1A2E"/>
                </a:solidFill>
                <a:latin typeface="Lato" panose="020F0502020204030203" pitchFamily="34" charset="0"/>
                <a:ea typeface="Calibri" pitchFamily="34" charset="-122"/>
                <a:cs typeface="Arial" panose="020B0604020202020204" pitchFamily="34" charset="0"/>
              </a:rPr>
            </a:br>
            <a:r>
              <a:rPr lang="en-US" sz="2133" dirty="0">
                <a:solidFill>
                  <a:srgbClr val="1A1A2E"/>
                </a:solidFill>
                <a:latin typeface="Lato" panose="020F0502020204030203" pitchFamily="34" charset="0"/>
                <a:ea typeface="Calibri" pitchFamily="34" charset="-122"/>
                <a:cs typeface="Arial" panose="020B0604020202020204" pitchFamily="34" charset="0"/>
              </a:rPr>
              <a:t>[</a:t>
            </a:r>
            <a:r>
              <a:rPr lang="en-US" sz="2400" dirty="0">
                <a:hlinkClick r:id="rId4"/>
              </a:rPr>
              <a:t>2025 Stack Overflow Developer Survey</a:t>
            </a:r>
            <a:r>
              <a:rPr lang="en-US" sz="2400" dirty="0"/>
              <a:t>]</a:t>
            </a:r>
            <a:endParaRPr lang="en-US" sz="2133" dirty="0">
              <a:latin typeface="Lato" panose="020F0502020204030203" pitchFamily="34" charset="0"/>
              <a:cs typeface="Arial" panose="020B0604020202020204" pitchFamily="34" charset="0"/>
            </a:endParaRPr>
          </a:p>
        </p:txBody>
      </p:sp>
      <p:sp>
        <p:nvSpPr>
          <p:cNvPr id="10" name="Shape 8"/>
          <p:cNvSpPr/>
          <p:nvPr/>
        </p:nvSpPr>
        <p:spPr>
          <a:xfrm>
            <a:off x="6226997" y="1657600"/>
            <a:ext cx="5486400" cy="512064"/>
          </a:xfrm>
          <a:prstGeom prst="rect">
            <a:avLst/>
          </a:prstGeom>
          <a:solidFill>
            <a:schemeClr val="accent1">
              <a:lumMod val="20000"/>
              <a:lumOff val="80000"/>
            </a:schemeClr>
          </a:solidFill>
          <a:ln/>
        </p:spPr>
        <p:txBody>
          <a:bodyPr/>
          <a:lstStyle/>
          <a:p>
            <a:endParaRPr lang="en-IN" sz="2133">
              <a:latin typeface="Lato" panose="020F0502020204030203" pitchFamily="34" charset="0"/>
              <a:cs typeface="Arial" panose="020B0604020202020204" pitchFamily="34" charset="0"/>
            </a:endParaRPr>
          </a:p>
        </p:txBody>
      </p:sp>
      <p:sp>
        <p:nvSpPr>
          <p:cNvPr id="11" name="Shape 9"/>
          <p:cNvSpPr/>
          <p:nvPr/>
        </p:nvSpPr>
        <p:spPr>
          <a:xfrm>
            <a:off x="11469557" y="1657600"/>
            <a:ext cx="426720" cy="512064"/>
          </a:xfrm>
          <a:prstGeom prst="rect">
            <a:avLst/>
          </a:prstGeom>
          <a:solidFill>
            <a:srgbClr val="1B3A8A"/>
          </a:solidFill>
          <a:ln/>
        </p:spPr>
        <p:txBody>
          <a:bodyPr/>
          <a:lstStyle/>
          <a:p>
            <a:endParaRPr lang="en-IN" sz="1867">
              <a:latin typeface="Lato" panose="020F0502020204030203" pitchFamily="34" charset="0"/>
            </a:endParaRPr>
          </a:p>
        </p:txBody>
      </p:sp>
      <p:sp>
        <p:nvSpPr>
          <p:cNvPr id="12" name="Text 10"/>
          <p:cNvSpPr/>
          <p:nvPr/>
        </p:nvSpPr>
        <p:spPr>
          <a:xfrm>
            <a:off x="6348917" y="1706368"/>
            <a:ext cx="5120640" cy="414528"/>
          </a:xfrm>
          <a:prstGeom prst="rect">
            <a:avLst/>
          </a:prstGeom>
          <a:noFill/>
          <a:ln/>
        </p:spPr>
        <p:txBody>
          <a:bodyPr wrap="square" rtlCol="0" anchor="ctr"/>
          <a:lstStyle/>
          <a:p>
            <a:r>
              <a:rPr lang="en-US" sz="2133" b="1" dirty="0">
                <a:latin typeface="Lato" panose="020F0502020204030203" pitchFamily="34" charset="0"/>
                <a:ea typeface="Calibri" pitchFamily="34" charset="-122"/>
                <a:cs typeface="Arial" panose="020B0604020202020204" pitchFamily="34" charset="0"/>
              </a:rPr>
              <a:t>Processing / Analysis</a:t>
            </a:r>
            <a:endParaRPr lang="en-US" sz="2133" dirty="0">
              <a:latin typeface="Lato" panose="020F0502020204030203" pitchFamily="34" charset="0"/>
              <a:cs typeface="Arial" panose="020B0604020202020204" pitchFamily="34" charset="0"/>
            </a:endParaRPr>
          </a:p>
        </p:txBody>
      </p:sp>
      <p:sp>
        <p:nvSpPr>
          <p:cNvPr id="13" name="Text 11"/>
          <p:cNvSpPr/>
          <p:nvPr/>
        </p:nvSpPr>
        <p:spPr>
          <a:xfrm>
            <a:off x="6348917" y="2267200"/>
            <a:ext cx="5364480" cy="1584960"/>
          </a:xfrm>
          <a:prstGeom prst="rect">
            <a:avLst/>
          </a:prstGeom>
          <a:noFill/>
          <a:ln/>
        </p:spPr>
        <p:txBody>
          <a:bodyPr wrap="square" rtlCol="0" anchor="t"/>
          <a:lstStyle/>
          <a:p>
            <a:r>
              <a:rPr lang="en-US" sz="2200" dirty="0"/>
              <a:t>Using Python 3.10 running on Google </a:t>
            </a:r>
            <a:r>
              <a:rPr lang="en-US" sz="2200" dirty="0" err="1"/>
              <a:t>Colab</a:t>
            </a:r>
            <a:r>
              <a:rPr lang="en-US" sz="2200" dirty="0"/>
              <a:t>; Advanced data cleaning using </a:t>
            </a:r>
            <a:r>
              <a:rPr lang="en-US" sz="2200" b="1" dirty="0"/>
              <a:t>Pandas</a:t>
            </a:r>
            <a:r>
              <a:rPr lang="en-US" sz="2200" dirty="0"/>
              <a:t> and </a:t>
            </a:r>
            <a:r>
              <a:rPr lang="en-US" sz="2200" b="1" dirty="0"/>
              <a:t>NumPy libraries; </a:t>
            </a:r>
            <a:r>
              <a:rPr lang="en-US" sz="2200" dirty="0"/>
              <a:t>Utilization of </a:t>
            </a:r>
            <a:r>
              <a:rPr lang="en-US" sz="2200" b="1" dirty="0"/>
              <a:t>SciPy</a:t>
            </a:r>
            <a:r>
              <a:rPr lang="en-US" sz="2200" dirty="0"/>
              <a:t> for Chi-square and Cramér's V tests</a:t>
            </a:r>
            <a:endParaRPr lang="en-US" sz="2200" dirty="0">
              <a:latin typeface="Lato" panose="020F0502020204030203" pitchFamily="34" charset="0"/>
              <a:cs typeface="Arial" panose="020B0604020202020204" pitchFamily="34" charset="0"/>
            </a:endParaRPr>
          </a:p>
        </p:txBody>
      </p:sp>
      <p:sp>
        <p:nvSpPr>
          <p:cNvPr id="14" name="Shape 12"/>
          <p:cNvSpPr/>
          <p:nvPr/>
        </p:nvSpPr>
        <p:spPr>
          <a:xfrm>
            <a:off x="313877" y="3959808"/>
            <a:ext cx="5486400" cy="512064"/>
          </a:xfrm>
          <a:prstGeom prst="rect">
            <a:avLst/>
          </a:prstGeom>
          <a:solidFill>
            <a:schemeClr val="accent1">
              <a:lumMod val="20000"/>
              <a:lumOff val="80000"/>
            </a:schemeClr>
          </a:solidFill>
          <a:ln/>
        </p:spPr>
        <p:txBody>
          <a:bodyPr/>
          <a:lstStyle/>
          <a:p>
            <a:endParaRPr lang="en-IN" sz="1867">
              <a:latin typeface="Lato" panose="020F0502020204030203" pitchFamily="34" charset="0"/>
            </a:endParaRPr>
          </a:p>
        </p:txBody>
      </p:sp>
      <p:sp>
        <p:nvSpPr>
          <p:cNvPr id="15" name="Shape 13"/>
          <p:cNvSpPr/>
          <p:nvPr/>
        </p:nvSpPr>
        <p:spPr>
          <a:xfrm>
            <a:off x="5556437" y="3959808"/>
            <a:ext cx="426720" cy="512064"/>
          </a:xfrm>
          <a:prstGeom prst="rect">
            <a:avLst/>
          </a:prstGeom>
          <a:solidFill>
            <a:srgbClr val="1B3A8A"/>
          </a:solidFill>
          <a:ln/>
        </p:spPr>
        <p:txBody>
          <a:bodyPr/>
          <a:lstStyle/>
          <a:p>
            <a:endParaRPr lang="en-IN" sz="1867">
              <a:latin typeface="Lato" panose="020F0502020204030203" pitchFamily="34" charset="0"/>
            </a:endParaRPr>
          </a:p>
        </p:txBody>
      </p:sp>
      <p:sp>
        <p:nvSpPr>
          <p:cNvPr id="16" name="Text 14"/>
          <p:cNvSpPr/>
          <p:nvPr/>
        </p:nvSpPr>
        <p:spPr>
          <a:xfrm>
            <a:off x="435797" y="4008576"/>
            <a:ext cx="5120640" cy="414528"/>
          </a:xfrm>
          <a:prstGeom prst="rect">
            <a:avLst/>
          </a:prstGeom>
          <a:noFill/>
          <a:ln/>
        </p:spPr>
        <p:txBody>
          <a:bodyPr wrap="square" rtlCol="0" anchor="ctr"/>
          <a:lstStyle/>
          <a:p>
            <a:r>
              <a:rPr lang="en-US" sz="2133" b="1" dirty="0">
                <a:latin typeface="Lato" panose="020F0502020204030203" pitchFamily="34" charset="0"/>
                <a:ea typeface="Calibri" pitchFamily="34" charset="-122"/>
                <a:cs typeface="Arial" panose="020B0604020202020204" pitchFamily="34" charset="0"/>
              </a:rPr>
              <a:t>AI / Tool Integration</a:t>
            </a:r>
            <a:endParaRPr lang="en-US" sz="2133" dirty="0">
              <a:latin typeface="Lato" panose="020F0502020204030203" pitchFamily="34" charset="0"/>
              <a:cs typeface="Arial" panose="020B0604020202020204" pitchFamily="34" charset="0"/>
            </a:endParaRPr>
          </a:p>
        </p:txBody>
      </p:sp>
      <p:sp>
        <p:nvSpPr>
          <p:cNvPr id="17" name="Text 15"/>
          <p:cNvSpPr/>
          <p:nvPr/>
        </p:nvSpPr>
        <p:spPr>
          <a:xfrm>
            <a:off x="435797" y="4569408"/>
            <a:ext cx="5364480" cy="1584960"/>
          </a:xfrm>
          <a:prstGeom prst="rect">
            <a:avLst/>
          </a:prstGeom>
          <a:noFill/>
          <a:ln/>
        </p:spPr>
        <p:txBody>
          <a:bodyPr wrap="square" rtlCol="0" anchor="t"/>
          <a:lstStyle/>
          <a:p>
            <a:endParaRPr lang="en-US" sz="2133" dirty="0">
              <a:latin typeface="Lato" panose="020F0502020204030203" pitchFamily="34" charset="0"/>
              <a:cs typeface="Arial" panose="020B0604020202020204" pitchFamily="34" charset="0"/>
            </a:endParaRPr>
          </a:p>
        </p:txBody>
      </p:sp>
      <p:sp>
        <p:nvSpPr>
          <p:cNvPr id="18" name="Shape 16"/>
          <p:cNvSpPr/>
          <p:nvPr/>
        </p:nvSpPr>
        <p:spPr>
          <a:xfrm>
            <a:off x="6226997" y="3959808"/>
            <a:ext cx="5486400" cy="512064"/>
          </a:xfrm>
          <a:prstGeom prst="rect">
            <a:avLst/>
          </a:prstGeom>
          <a:solidFill>
            <a:schemeClr val="accent1">
              <a:lumMod val="20000"/>
              <a:lumOff val="80000"/>
            </a:schemeClr>
          </a:solidFill>
          <a:ln/>
        </p:spPr>
        <p:txBody>
          <a:bodyPr/>
          <a:lstStyle/>
          <a:p>
            <a:endParaRPr lang="en-IN" sz="1867">
              <a:latin typeface="Lato" panose="020F0502020204030203" pitchFamily="34" charset="0"/>
            </a:endParaRPr>
          </a:p>
        </p:txBody>
      </p:sp>
      <p:sp>
        <p:nvSpPr>
          <p:cNvPr id="19" name="Shape 17"/>
          <p:cNvSpPr/>
          <p:nvPr/>
        </p:nvSpPr>
        <p:spPr>
          <a:xfrm>
            <a:off x="11469557" y="3959808"/>
            <a:ext cx="426720" cy="512064"/>
          </a:xfrm>
          <a:prstGeom prst="rect">
            <a:avLst/>
          </a:prstGeom>
          <a:solidFill>
            <a:srgbClr val="1B3A8A"/>
          </a:solidFill>
          <a:ln/>
        </p:spPr>
        <p:txBody>
          <a:bodyPr/>
          <a:lstStyle/>
          <a:p>
            <a:endParaRPr lang="en-IN" sz="1867">
              <a:latin typeface="Lato" panose="020F0502020204030203" pitchFamily="34" charset="0"/>
            </a:endParaRPr>
          </a:p>
        </p:txBody>
      </p:sp>
      <p:sp>
        <p:nvSpPr>
          <p:cNvPr id="20" name="Text 18"/>
          <p:cNvSpPr/>
          <p:nvPr/>
        </p:nvSpPr>
        <p:spPr>
          <a:xfrm>
            <a:off x="6348917" y="4008576"/>
            <a:ext cx="5120640" cy="414528"/>
          </a:xfrm>
          <a:prstGeom prst="rect">
            <a:avLst/>
          </a:prstGeom>
          <a:noFill/>
          <a:ln/>
        </p:spPr>
        <p:txBody>
          <a:bodyPr wrap="square" rtlCol="0" anchor="ctr"/>
          <a:lstStyle/>
          <a:p>
            <a:r>
              <a:rPr lang="en-US" sz="2133" b="1" dirty="0">
                <a:latin typeface="Lato" panose="020F0502020204030203" pitchFamily="34" charset="0"/>
                <a:ea typeface="Calibri" pitchFamily="34" charset="-122"/>
                <a:cs typeface="Arial" panose="020B0604020202020204" pitchFamily="34" charset="0"/>
              </a:rPr>
              <a:t>Output / Dashboard</a:t>
            </a:r>
            <a:endParaRPr lang="en-US" sz="2133" dirty="0">
              <a:latin typeface="Lato" panose="020F0502020204030203" pitchFamily="34" charset="0"/>
              <a:cs typeface="Arial" panose="020B0604020202020204" pitchFamily="34" charset="0"/>
            </a:endParaRPr>
          </a:p>
        </p:txBody>
      </p:sp>
      <p:sp>
        <p:nvSpPr>
          <p:cNvPr id="21" name="Text 19"/>
          <p:cNvSpPr/>
          <p:nvPr/>
        </p:nvSpPr>
        <p:spPr>
          <a:xfrm>
            <a:off x="6348917" y="4569408"/>
            <a:ext cx="5364480" cy="1584960"/>
          </a:xfrm>
          <a:prstGeom prst="rect">
            <a:avLst/>
          </a:prstGeom>
          <a:noFill/>
          <a:ln/>
        </p:spPr>
        <p:txBody>
          <a:bodyPr wrap="square" rtlCol="0" anchor="t"/>
          <a:lstStyle/>
          <a:p>
            <a:r>
              <a:rPr lang="en-IN" sz="2400" b="1" dirty="0"/>
              <a:t>Interactive Dashboard:</a:t>
            </a:r>
            <a:r>
              <a:rPr lang="en-IN" sz="2400" dirty="0"/>
              <a:t> Single-file, zero-dependency HTML </a:t>
            </a:r>
          </a:p>
          <a:p>
            <a:r>
              <a:rPr lang="en-US" sz="2400" b="1" dirty="0"/>
              <a:t>GitHub</a:t>
            </a:r>
            <a:r>
              <a:rPr lang="en-US" sz="2400" dirty="0"/>
              <a:t> repository for version control, project documentation, and final deployment.</a:t>
            </a:r>
            <a:endParaRPr lang="en-US" sz="2133"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F1153957-B942-B997-9552-FA2A7795D3A3}"/>
              </a:ext>
            </a:extLst>
          </p:cNvPr>
          <p:cNvSpPr txBox="1"/>
          <p:nvPr/>
        </p:nvSpPr>
        <p:spPr>
          <a:xfrm>
            <a:off x="313877" y="4688337"/>
            <a:ext cx="6094476" cy="400110"/>
          </a:xfrm>
          <a:prstGeom prst="rect">
            <a:avLst/>
          </a:prstGeom>
          <a:noFill/>
        </p:spPr>
        <p:txBody>
          <a:bodyPr wrap="square">
            <a:spAutoFit/>
          </a:bodyPr>
          <a:lstStyle/>
          <a:p>
            <a:r>
              <a:rPr lang="it-IT" sz="2000" dirty="0"/>
              <a:t>Custom AI Agent built via </a:t>
            </a:r>
            <a:r>
              <a:rPr lang="it-IT" sz="2000" b="1" dirty="0"/>
              <a:t>Microsoft Copilot Studio</a:t>
            </a:r>
            <a:endParaRPr lang="en-IN" sz="2000"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pic>
        <p:nvPicPr>
          <p:cNvPr id="205" name="Google Shape;205;p19" descr="image.png"/>
          <p:cNvPicPr preferRelativeResize="0"/>
          <p:nvPr/>
        </p:nvPicPr>
        <p:blipFill rotWithShape="1">
          <a:blip r:embed="rId3">
            <a:alphaModFix/>
          </a:blip>
          <a:srcRect/>
          <a:stretch/>
        </p:blipFill>
        <p:spPr>
          <a:xfrm>
            <a:off x="571500" y="4867275"/>
            <a:ext cx="5286375" cy="1295400"/>
          </a:xfrm>
          <a:prstGeom prst="rect">
            <a:avLst/>
          </a:prstGeom>
          <a:noFill/>
          <a:ln>
            <a:noFill/>
          </a:ln>
        </p:spPr>
      </p:pic>
      <p:sp>
        <p:nvSpPr>
          <p:cNvPr id="206" name="Google Shape;206;p19"/>
          <p:cNvSpPr txBox="1"/>
          <p:nvPr/>
        </p:nvSpPr>
        <p:spPr>
          <a:xfrm>
            <a:off x="571500" y="571500"/>
            <a:ext cx="5550693" cy="1200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B3A6B"/>
                </a:solidFill>
                <a:latin typeface="Poppins SemiBold"/>
                <a:ea typeface="Poppins SemiBold"/>
                <a:cs typeface="Poppins SemiBold"/>
                <a:sym typeface="Poppins SemiBold"/>
              </a:rPr>
              <a:t>DEMO 1: USE-DESPITE-DISTRUST</a:t>
            </a:r>
            <a:endParaRPr/>
          </a:p>
        </p:txBody>
      </p:sp>
      <p:sp>
        <p:nvSpPr>
          <p:cNvPr id="208" name="Google Shape;208;p19"/>
          <p:cNvSpPr txBox="1"/>
          <p:nvPr/>
        </p:nvSpPr>
        <p:spPr>
          <a:xfrm>
            <a:off x="571500" y="2085975"/>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The dashboard reveals the fundamental paradox: among developers who actively use AI daily, </a:t>
            </a:r>
            <a:r>
              <a:rPr lang="en-US" sz="1500" b="1" i="0" u="none" strike="noStrike" cap="none">
                <a:solidFill>
                  <a:srgbClr val="334155"/>
                </a:solidFill>
                <a:latin typeface="Inter"/>
                <a:ea typeface="Inter"/>
                <a:cs typeface="Inter"/>
                <a:sym typeface="Inter"/>
              </a:rPr>
              <a:t>37.4% actively distrust</a:t>
            </a:r>
            <a:r>
              <a:rPr lang="en-US" sz="1500" b="0" i="0" u="none" strike="noStrike" cap="none">
                <a:solidFill>
                  <a:srgbClr val="334155"/>
                </a:solidFill>
                <a:latin typeface="Inter"/>
                <a:ea typeface="Inter"/>
                <a:cs typeface="Inter"/>
                <a:sym typeface="Inter"/>
              </a:rPr>
              <a:t> the output they rely on.</a:t>
            </a:r>
            <a:endParaRPr/>
          </a:p>
        </p:txBody>
      </p:sp>
      <p:sp>
        <p:nvSpPr>
          <p:cNvPr id="209" name="Google Shape;209;p19"/>
          <p:cNvSpPr txBox="1"/>
          <p:nvPr/>
        </p:nvSpPr>
        <p:spPr>
          <a:xfrm>
            <a:off x="571500" y="3228975"/>
            <a:ext cx="52863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Furthermore, the data shows that expertise actually decreases trust. Developers with 10+ years of experience have only a 2.3% high trust rate, compared to 10.0% for early-career developers.</a:t>
            </a:r>
            <a:endParaRPr/>
          </a:p>
        </p:txBody>
      </p:sp>
      <p:sp>
        <p:nvSpPr>
          <p:cNvPr id="210" name="Google Shape;210;p19"/>
          <p:cNvSpPr txBox="1"/>
          <p:nvPr/>
        </p:nvSpPr>
        <p:spPr>
          <a:xfrm>
            <a:off x="800100" y="5057775"/>
            <a:ext cx="48672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7F1D1D"/>
                </a:solidFill>
                <a:latin typeface="Inter Medium"/>
                <a:ea typeface="Inter Medium"/>
                <a:cs typeface="Inter Medium"/>
                <a:sym typeface="Inter Medium"/>
              </a:rPr>
              <a:t>Conclusion: The Technology Acceptance Model (TAM) is falsified. Familiarity and expertise reveal failure modes, breeding skepticism.</a:t>
            </a:r>
            <a:endParaRPr/>
          </a:p>
        </p:txBody>
      </p:sp>
      <p:pic>
        <p:nvPicPr>
          <p:cNvPr id="3" name="Picture 2">
            <a:extLst>
              <a:ext uri="{FF2B5EF4-FFF2-40B4-BE49-F238E27FC236}">
                <a16:creationId xmlns:a16="http://schemas.microsoft.com/office/drawing/2014/main" id="{23AEA00F-C621-4F76-2FF7-CD3803B0101B}"/>
              </a:ext>
            </a:extLst>
          </p:cNvPr>
          <p:cNvPicPr>
            <a:picLocks noChangeAspect="1"/>
          </p:cNvPicPr>
          <p:nvPr/>
        </p:nvPicPr>
        <p:blipFill>
          <a:blip r:embed="rId4"/>
          <a:stretch>
            <a:fillRect/>
          </a:stretch>
        </p:blipFill>
        <p:spPr>
          <a:xfrm>
            <a:off x="85416" y="0"/>
            <a:ext cx="12021168"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4"/>
        <p:cNvGrpSpPr/>
        <p:nvPr/>
      </p:nvGrpSpPr>
      <p:grpSpPr>
        <a:xfrm>
          <a:off x="0" y="0"/>
          <a:ext cx="0" cy="0"/>
          <a:chOff x="0" y="0"/>
          <a:chExt cx="0" cy="0"/>
        </a:xfrm>
      </p:grpSpPr>
      <p:pic>
        <p:nvPicPr>
          <p:cNvPr id="215" name="Google Shape;215;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6" name="Google Shape;216;p20" descr="image.png"/>
          <p:cNvPicPr preferRelativeResize="0"/>
          <p:nvPr/>
        </p:nvPicPr>
        <p:blipFill rotWithShape="1">
          <a:blip r:embed="rId4">
            <a:alphaModFix/>
          </a:blip>
          <a:srcRect/>
          <a:stretch/>
        </p:blipFill>
        <p:spPr>
          <a:xfrm>
            <a:off x="571500" y="1552575"/>
            <a:ext cx="5238750" cy="4733925"/>
          </a:xfrm>
          <a:prstGeom prst="rect">
            <a:avLst/>
          </a:prstGeom>
          <a:noFill/>
          <a:ln>
            <a:noFill/>
          </a:ln>
        </p:spPr>
      </p:pic>
      <p:sp>
        <p:nvSpPr>
          <p:cNvPr id="217" name="Google Shape;217;p20"/>
          <p:cNvSpPr txBox="1"/>
          <p:nvPr/>
        </p:nvSpPr>
        <p:spPr>
          <a:xfrm>
            <a:off x="962025" y="3057525"/>
            <a:ext cx="4457700" cy="1333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500" b="1" i="0" u="none" strike="noStrike" cap="none">
                <a:solidFill>
                  <a:srgbClr val="9B1C1C"/>
                </a:solidFill>
                <a:latin typeface="Poppins"/>
                <a:ea typeface="Poppins"/>
                <a:cs typeface="Poppins"/>
                <a:sym typeface="Poppins"/>
              </a:rPr>
              <a:t>28.4pp</a:t>
            </a:r>
            <a:endParaRPr/>
          </a:p>
        </p:txBody>
      </p:sp>
      <p:sp>
        <p:nvSpPr>
          <p:cNvPr id="218" name="Google Shape;218;p20"/>
          <p:cNvSpPr txBox="1"/>
          <p:nvPr/>
        </p:nvSpPr>
        <p:spPr>
          <a:xfrm>
            <a:off x="962025" y="4486275"/>
            <a:ext cx="4457700"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1B3A6B"/>
                </a:solidFill>
                <a:latin typeface="Inter SemiBold"/>
                <a:ea typeface="Inter SemiBold"/>
                <a:cs typeface="Inter SemiBold"/>
                <a:sym typeface="Inter SemiBold"/>
              </a:rPr>
              <a:t>The Ethics Gap</a:t>
            </a:r>
            <a:endParaRPr/>
          </a:p>
        </p:txBody>
      </p:sp>
      <p:sp>
        <p:nvSpPr>
          <p:cNvPr id="219" name="Google Shape;219;p20"/>
          <p:cNvSpPr txBox="1"/>
          <p:nvPr/>
        </p:nvSpPr>
        <p:spPr>
          <a:xfrm>
            <a:off x="6381750" y="2266950"/>
            <a:ext cx="5500687"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0" i="0" u="none" strike="noStrike" cap="none">
                <a:solidFill>
                  <a:srgbClr val="1B3A6B"/>
                </a:solidFill>
                <a:latin typeface="Poppins SemiBold"/>
                <a:ea typeface="Poppins SemiBold"/>
                <a:cs typeface="Poppins SemiBold"/>
                <a:sym typeface="Poppins SemiBold"/>
              </a:rPr>
              <a:t>Heart vs. Head</a:t>
            </a:r>
            <a:endParaRPr/>
          </a:p>
        </p:txBody>
      </p:sp>
      <p:sp>
        <p:nvSpPr>
          <p:cNvPr id="220" name="Google Shape;220;p20"/>
          <p:cNvSpPr txBox="1"/>
          <p:nvPr/>
        </p:nvSpPr>
        <p:spPr>
          <a:xfrm>
            <a:off x="6381750" y="2847975"/>
            <a:ext cx="52387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75569"/>
                </a:solidFill>
                <a:latin typeface="Inter"/>
                <a:ea typeface="Inter"/>
                <a:cs typeface="Inter"/>
                <a:sym typeface="Inter"/>
              </a:rPr>
              <a:t>61.0%</a:t>
            </a:r>
            <a:r>
              <a:rPr lang="en-US" sz="1500" b="0" i="0" u="none" strike="noStrike" cap="none">
                <a:solidFill>
                  <a:srgbClr val="475569"/>
                </a:solidFill>
                <a:latin typeface="Inter"/>
                <a:ea typeface="Inter"/>
                <a:cs typeface="Inter"/>
                <a:sym typeface="Inter"/>
              </a:rPr>
              <a:t> of developers have a positive emotional sentiment towards AI (enjoying the speed and convenience). However, only </a:t>
            </a:r>
            <a:r>
              <a:rPr lang="en-US" sz="1500" b="1" i="0" u="none" strike="noStrike" cap="none">
                <a:solidFill>
                  <a:srgbClr val="475569"/>
                </a:solidFill>
                <a:latin typeface="Inter"/>
                <a:ea typeface="Inter"/>
                <a:cs typeface="Inter"/>
                <a:sym typeface="Inter"/>
              </a:rPr>
              <a:t>32.6%</a:t>
            </a:r>
            <a:r>
              <a:rPr lang="en-US" sz="1500" b="0" i="0" u="none" strike="noStrike" cap="none">
                <a:solidFill>
                  <a:srgbClr val="475569"/>
                </a:solidFill>
                <a:latin typeface="Inter"/>
                <a:ea typeface="Inter"/>
                <a:cs typeface="Inter"/>
                <a:sym typeface="Inter"/>
              </a:rPr>
              <a:t> possess positive analytical trust in the output accuracy.</a:t>
            </a:r>
            <a:endParaRPr/>
          </a:p>
        </p:txBody>
      </p:sp>
      <p:sp>
        <p:nvSpPr>
          <p:cNvPr id="221" name="Google Shape;221;p20"/>
          <p:cNvSpPr txBox="1"/>
          <p:nvPr/>
        </p:nvSpPr>
        <p:spPr>
          <a:xfrm>
            <a:off x="6381750" y="4210050"/>
            <a:ext cx="52387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75569"/>
                </a:solidFill>
                <a:latin typeface="Inter"/>
                <a:ea typeface="Inter"/>
                <a:cs typeface="Inter"/>
                <a:sym typeface="Inter"/>
              </a:rPr>
              <a:t>Counter-intuitively, the dashboard shows that developers using 4+ AI tools distrust AI at 47.5%, compared to 41.4% for 1-tool users. More tools equal more distrust.</a:t>
            </a:r>
            <a:endParaRPr/>
          </a:p>
        </p:txBody>
      </p:sp>
      <p:sp>
        <p:nvSpPr>
          <p:cNvPr id="222" name="Google Shape;222;p20"/>
          <p:cNvSpPr txBox="1"/>
          <p:nvPr/>
        </p:nvSpPr>
        <p:spPr>
          <a:xfrm>
            <a:off x="571500" y="5715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B3A6B"/>
                </a:solidFill>
                <a:latin typeface="Poppins SemiBold"/>
                <a:ea typeface="Poppins SemiBold"/>
                <a:cs typeface="Poppins SemiBold"/>
                <a:sym typeface="Poppins SemiBold"/>
              </a:rPr>
              <a:t>DEMO 2: ADOPTION-ETHICS GAP</a:t>
            </a:r>
            <a:endParaRPr/>
          </a:p>
        </p:txBody>
      </p:sp>
      <p:pic>
        <p:nvPicPr>
          <p:cNvPr id="3" name="Picture 2">
            <a:extLst>
              <a:ext uri="{FF2B5EF4-FFF2-40B4-BE49-F238E27FC236}">
                <a16:creationId xmlns:a16="http://schemas.microsoft.com/office/drawing/2014/main" id="{D4B74C8D-EC03-737A-A06F-566DD956B6A5}"/>
              </a:ext>
            </a:extLst>
          </p:cNvPr>
          <p:cNvPicPr>
            <a:picLocks noChangeAspect="1"/>
          </p:cNvPicPr>
          <p:nvPr/>
        </p:nvPicPr>
        <p:blipFill>
          <a:blip r:embed="rId5"/>
          <a:stretch>
            <a:fillRect/>
          </a:stretch>
        </p:blipFill>
        <p:spPr>
          <a:xfrm>
            <a:off x="63190" y="139531"/>
            <a:ext cx="12065620" cy="65789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6"/>
        <p:cNvGrpSpPr/>
        <p:nvPr/>
      </p:nvGrpSpPr>
      <p:grpSpPr>
        <a:xfrm>
          <a:off x="0" y="0"/>
          <a:ext cx="0" cy="0"/>
          <a:chOff x="0" y="0"/>
          <a:chExt cx="0" cy="0"/>
        </a:xfrm>
      </p:grpSpPr>
      <p:pic>
        <p:nvPicPr>
          <p:cNvPr id="227" name="Google Shape;227;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8" name="Google Shape;228;p21" descr="image.png"/>
          <p:cNvPicPr preferRelativeResize="0"/>
          <p:nvPr/>
        </p:nvPicPr>
        <p:blipFill rotWithShape="1">
          <a:blip r:embed="rId4">
            <a:alphaModFix/>
          </a:blip>
          <a:srcRect/>
          <a:stretch/>
        </p:blipFill>
        <p:spPr>
          <a:xfrm>
            <a:off x="571500" y="1552575"/>
            <a:ext cx="11049000" cy="4733925"/>
          </a:xfrm>
          <a:prstGeom prst="rect">
            <a:avLst/>
          </a:prstGeom>
          <a:noFill/>
          <a:ln>
            <a:noFill/>
          </a:ln>
        </p:spPr>
      </p:pic>
      <p:sp>
        <p:nvSpPr>
          <p:cNvPr id="229" name="Google Shape;229;p21"/>
          <p:cNvSpPr txBox="1"/>
          <p:nvPr/>
        </p:nvSpPr>
        <p:spPr>
          <a:xfrm>
            <a:off x="571500" y="1552575"/>
            <a:ext cx="9648825" cy="36567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64748B"/>
                </a:solidFill>
                <a:latin typeface="Inter"/>
                <a:ea typeface="Inter"/>
                <a:cs typeface="Inter"/>
                <a:sym typeface="Inter"/>
              </a:rPr>
              <a:t>The percentage of developers feeling "Not Threatened" by AI is declining year over year.</a:t>
            </a:r>
            <a:endParaRPr/>
          </a:p>
        </p:txBody>
      </p:sp>
      <p:sp>
        <p:nvSpPr>
          <p:cNvPr id="230" name="Google Shape;230;p21"/>
          <p:cNvSpPr txBox="1"/>
          <p:nvPr/>
        </p:nvSpPr>
        <p:spPr>
          <a:xfrm>
            <a:off x="571500" y="4775745"/>
            <a:ext cx="91344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1E293B"/>
                </a:solidFill>
                <a:latin typeface="Inter SemiBold"/>
                <a:ea typeface="Inter SemiBold"/>
                <a:cs typeface="Inter SemiBold"/>
                <a:sym typeface="Inter SemiBold"/>
              </a:rPr>
              <a:t>Impact: 43.1% of developers have at least considered a career change due to AI displacement fears.</a:t>
            </a:r>
            <a:endParaRPr/>
          </a:p>
        </p:txBody>
      </p:sp>
      <p:sp>
        <p:nvSpPr>
          <p:cNvPr id="231" name="Google Shape;231;p21"/>
          <p:cNvSpPr txBox="1"/>
          <p:nvPr/>
        </p:nvSpPr>
        <p:spPr>
          <a:xfrm>
            <a:off x="571500" y="5715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B3A6B"/>
                </a:solidFill>
                <a:latin typeface="Poppins SemiBold"/>
                <a:ea typeface="Poppins SemiBold"/>
                <a:cs typeface="Poppins SemiBold"/>
                <a:sym typeface="Poppins SemiBold"/>
              </a:rPr>
              <a:t>DEMO 3: UTILITY-THREAT TENSION</a:t>
            </a:r>
            <a:endParaRPr/>
          </a:p>
        </p:txBody>
      </p:sp>
      <p:pic>
        <p:nvPicPr>
          <p:cNvPr id="3" name="Picture 2">
            <a:extLst>
              <a:ext uri="{FF2B5EF4-FFF2-40B4-BE49-F238E27FC236}">
                <a16:creationId xmlns:a16="http://schemas.microsoft.com/office/drawing/2014/main" id="{FF2F7E76-594F-862E-5FDD-52539B82C269}"/>
              </a:ext>
            </a:extLst>
          </p:cNvPr>
          <p:cNvPicPr>
            <a:picLocks noChangeAspect="1"/>
          </p:cNvPicPr>
          <p:nvPr/>
        </p:nvPicPr>
        <p:blipFill>
          <a:blip r:embed="rId5"/>
          <a:stretch>
            <a:fillRect/>
          </a:stretch>
        </p:blipFill>
        <p:spPr>
          <a:xfrm>
            <a:off x="0" y="197385"/>
            <a:ext cx="12192000" cy="64632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4D7F4643-0934-FB9F-D2FA-9D44D4CB404D}"/>
            </a:ext>
          </a:extLst>
        </p:cNvPr>
        <p:cNvGrpSpPr/>
        <p:nvPr/>
      </p:nvGrpSpPr>
      <p:grpSpPr>
        <a:xfrm>
          <a:off x="0" y="0"/>
          <a:ext cx="0" cy="0"/>
          <a:chOff x="0" y="0"/>
          <a:chExt cx="0" cy="0"/>
        </a:xfrm>
      </p:grpSpPr>
      <p:pic>
        <p:nvPicPr>
          <p:cNvPr id="227" name="Google Shape;227;p21" descr="image.png">
            <a:extLst>
              <a:ext uri="{FF2B5EF4-FFF2-40B4-BE49-F238E27FC236}">
                <a16:creationId xmlns:a16="http://schemas.microsoft.com/office/drawing/2014/main" id="{45D68058-F30A-4024-93CC-FAC361FC98E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1" name="Google Shape;231;p21">
            <a:extLst>
              <a:ext uri="{FF2B5EF4-FFF2-40B4-BE49-F238E27FC236}">
                <a16:creationId xmlns:a16="http://schemas.microsoft.com/office/drawing/2014/main" id="{804664D6-90B8-F605-2112-BF4CC0BCE72B}"/>
              </a:ext>
            </a:extLst>
          </p:cNvPr>
          <p:cNvSpPr txBox="1"/>
          <p:nvPr/>
        </p:nvSpPr>
        <p:spPr>
          <a:xfrm>
            <a:off x="589788"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B3A6B"/>
                </a:solidFill>
                <a:latin typeface="Poppins SemiBold"/>
                <a:ea typeface="Poppins SemiBold"/>
                <a:cs typeface="Poppins SemiBold"/>
                <a:sym typeface="Poppins SemiBold"/>
              </a:rPr>
              <a:t>DEMO : Customized Agent using Copilot   </a:t>
            </a:r>
            <a:endParaRPr dirty="0"/>
          </a:p>
        </p:txBody>
      </p:sp>
      <p:pic>
        <p:nvPicPr>
          <p:cNvPr id="4" name="Picture 3">
            <a:extLst>
              <a:ext uri="{FF2B5EF4-FFF2-40B4-BE49-F238E27FC236}">
                <a16:creationId xmlns:a16="http://schemas.microsoft.com/office/drawing/2014/main" id="{D54DCBD8-46CF-F3B6-0E64-EFC5E8B24CAE}"/>
              </a:ext>
            </a:extLst>
          </p:cNvPr>
          <p:cNvPicPr>
            <a:picLocks noChangeAspect="1"/>
          </p:cNvPicPr>
          <p:nvPr/>
        </p:nvPicPr>
        <p:blipFill>
          <a:blip r:embed="rId4"/>
          <a:srcRect t="15302"/>
          <a:stretch>
            <a:fillRect/>
          </a:stretch>
        </p:blipFill>
        <p:spPr>
          <a:xfrm>
            <a:off x="478971" y="1251857"/>
            <a:ext cx="11168744" cy="5268685"/>
          </a:xfrm>
          <a:prstGeom prst="rect">
            <a:avLst/>
          </a:prstGeom>
        </p:spPr>
      </p:pic>
    </p:spTree>
    <p:extLst>
      <p:ext uri="{BB962C8B-B14F-4D97-AF65-F5344CB8AC3E}">
        <p14:creationId xmlns:p14="http://schemas.microsoft.com/office/powerpoint/2010/main" val="1055521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0FD40409-2D03-9AFC-BEE6-55318AF6C651}"/>
            </a:ext>
          </a:extLst>
        </p:cNvPr>
        <p:cNvGrpSpPr/>
        <p:nvPr/>
      </p:nvGrpSpPr>
      <p:grpSpPr>
        <a:xfrm>
          <a:off x="0" y="0"/>
          <a:ext cx="0" cy="0"/>
          <a:chOff x="0" y="0"/>
          <a:chExt cx="0" cy="0"/>
        </a:xfrm>
      </p:grpSpPr>
      <p:pic>
        <p:nvPicPr>
          <p:cNvPr id="227" name="Google Shape;227;p21" descr="image.png">
            <a:extLst>
              <a:ext uri="{FF2B5EF4-FFF2-40B4-BE49-F238E27FC236}">
                <a16:creationId xmlns:a16="http://schemas.microsoft.com/office/drawing/2014/main" id="{B2BC9E52-C892-C350-9C8F-77E9230C22BE}"/>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1" name="Google Shape;231;p21">
            <a:extLst>
              <a:ext uri="{FF2B5EF4-FFF2-40B4-BE49-F238E27FC236}">
                <a16:creationId xmlns:a16="http://schemas.microsoft.com/office/drawing/2014/main" id="{08EDA0B1-CA68-AF9A-250E-DC3A7A261FB7}"/>
              </a:ext>
            </a:extLst>
          </p:cNvPr>
          <p:cNvSpPr txBox="1"/>
          <p:nvPr/>
        </p:nvSpPr>
        <p:spPr>
          <a:xfrm>
            <a:off x="589788"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B3A6B"/>
                </a:solidFill>
                <a:latin typeface="Poppins SemiBold"/>
                <a:ea typeface="Poppins SemiBold"/>
                <a:cs typeface="Poppins SemiBold"/>
                <a:sym typeface="Poppins SemiBold"/>
              </a:rPr>
              <a:t>DEMO : Customized Agent using Copilot   </a:t>
            </a:r>
            <a:endParaRPr dirty="0"/>
          </a:p>
        </p:txBody>
      </p:sp>
      <p:pic>
        <p:nvPicPr>
          <p:cNvPr id="6" name="Picture 5">
            <a:extLst>
              <a:ext uri="{FF2B5EF4-FFF2-40B4-BE49-F238E27FC236}">
                <a16:creationId xmlns:a16="http://schemas.microsoft.com/office/drawing/2014/main" id="{E4FD6A83-DFE8-701B-E049-3B6F9FA32E6B}"/>
              </a:ext>
            </a:extLst>
          </p:cNvPr>
          <p:cNvPicPr>
            <a:picLocks noChangeAspect="1"/>
          </p:cNvPicPr>
          <p:nvPr/>
        </p:nvPicPr>
        <p:blipFill>
          <a:blip r:embed="rId4"/>
          <a:srcRect t="15402"/>
          <a:stretch>
            <a:fillRect/>
          </a:stretch>
        </p:blipFill>
        <p:spPr>
          <a:xfrm>
            <a:off x="127548" y="1056248"/>
            <a:ext cx="11474664" cy="5801752"/>
          </a:xfrm>
          <a:prstGeom prst="rect">
            <a:avLst/>
          </a:prstGeom>
        </p:spPr>
      </p:pic>
    </p:spTree>
    <p:extLst>
      <p:ext uri="{BB962C8B-B14F-4D97-AF65-F5344CB8AC3E}">
        <p14:creationId xmlns:p14="http://schemas.microsoft.com/office/powerpoint/2010/main" val="2300879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7" name="Google Shape;237;p22" descr="image.png"/>
          <p:cNvPicPr preferRelativeResize="0"/>
          <p:nvPr/>
        </p:nvPicPr>
        <p:blipFill rotWithShape="1">
          <a:blip r:embed="rId4">
            <a:alphaModFix/>
          </a:blip>
          <a:srcRect/>
          <a:stretch/>
        </p:blipFill>
        <p:spPr>
          <a:xfrm>
            <a:off x="2286000" y="1088826"/>
            <a:ext cx="7620000" cy="4680346"/>
          </a:xfrm>
          <a:prstGeom prst="rect">
            <a:avLst/>
          </a:prstGeom>
          <a:noFill/>
          <a:ln>
            <a:noFill/>
          </a:ln>
        </p:spPr>
      </p:pic>
      <p:sp>
        <p:nvSpPr>
          <p:cNvPr id="238" name="Google Shape;238;p22"/>
          <p:cNvSpPr txBox="1"/>
          <p:nvPr/>
        </p:nvSpPr>
        <p:spPr>
          <a:xfrm>
            <a:off x="2705576" y="1669851"/>
            <a:ext cx="6780847"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FFFFF"/>
                </a:solidFill>
                <a:latin typeface="Poppins"/>
                <a:ea typeface="Poppins"/>
                <a:cs typeface="Poppins"/>
                <a:sym typeface="Poppins"/>
              </a:rPr>
              <a:t>Live Project Demo</a:t>
            </a:r>
            <a:endParaRPr/>
          </a:p>
        </p:txBody>
      </p:sp>
      <p:sp>
        <p:nvSpPr>
          <p:cNvPr id="239" name="Google Shape;239;p22"/>
          <p:cNvSpPr txBox="1"/>
          <p:nvPr/>
        </p:nvSpPr>
        <p:spPr>
          <a:xfrm>
            <a:off x="2867025" y="2669976"/>
            <a:ext cx="6457950"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F8FAFC"/>
                </a:solidFill>
                <a:latin typeface="Inter"/>
                <a:ea typeface="Inter"/>
                <a:cs typeface="Inter"/>
                <a:sym typeface="Inter"/>
              </a:rPr>
              <a:t>Explore the interactive dashboard, view demographic filters, and interact with the paradox visualizations.</a:t>
            </a:r>
            <a:endParaRPr/>
          </a:p>
        </p:txBody>
      </p:sp>
      <p:sp>
        <p:nvSpPr>
          <p:cNvPr id="240" name="Google Shape;240;p22"/>
          <p:cNvSpPr txBox="1"/>
          <p:nvPr/>
        </p:nvSpPr>
        <p:spPr>
          <a:xfrm>
            <a:off x="2867025" y="4801492"/>
            <a:ext cx="6457950"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Click to play the recorded dashboard walkthrough</a:t>
            </a:r>
            <a:endParaRPr/>
          </a:p>
        </p:txBody>
      </p:sp>
      <p:pic>
        <p:nvPicPr>
          <p:cNvPr id="241" name="Google Shape;241;p22" descr="image.png"/>
          <p:cNvPicPr preferRelativeResize="0"/>
          <p:nvPr/>
        </p:nvPicPr>
        <p:blipFill rotWithShape="1">
          <a:blip r:embed="rId5">
            <a:alphaModFix/>
          </a:blip>
          <a:srcRect/>
          <a:stretch/>
        </p:blipFill>
        <p:spPr>
          <a:xfrm>
            <a:off x="5715000" y="3763267"/>
            <a:ext cx="762000" cy="762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5"/>
        <p:cNvGrpSpPr/>
        <p:nvPr/>
      </p:nvGrpSpPr>
      <p:grpSpPr>
        <a:xfrm>
          <a:off x="0" y="0"/>
          <a:ext cx="0" cy="0"/>
          <a:chOff x="0" y="0"/>
          <a:chExt cx="0" cy="0"/>
        </a:xfrm>
      </p:grpSpPr>
      <p:pic>
        <p:nvPicPr>
          <p:cNvPr id="246" name="Google Shape;246;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7" name="Google Shape;247;p23" descr="image.png"/>
          <p:cNvPicPr preferRelativeResize="0"/>
          <p:nvPr/>
        </p:nvPicPr>
        <p:blipFill rotWithShape="1">
          <a:blip r:embed="rId4">
            <a:alphaModFix/>
          </a:blip>
          <a:srcRect/>
          <a:stretch/>
        </p:blipFill>
        <p:spPr>
          <a:xfrm>
            <a:off x="6381750" y="1552575"/>
            <a:ext cx="5238750" cy="4572000"/>
          </a:xfrm>
          <a:prstGeom prst="rect">
            <a:avLst/>
          </a:prstGeom>
          <a:noFill/>
          <a:ln>
            <a:noFill/>
          </a:ln>
        </p:spPr>
      </p:pic>
      <p:sp>
        <p:nvSpPr>
          <p:cNvPr id="252" name="Google Shape;252;p23"/>
          <p:cNvSpPr txBox="1"/>
          <p:nvPr/>
        </p:nvSpPr>
        <p:spPr>
          <a:xfrm>
            <a:off x="571500" y="571500"/>
            <a:ext cx="11601450"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B3A6B"/>
                </a:solidFill>
                <a:latin typeface="Poppins SemiBold"/>
                <a:ea typeface="Poppins SemiBold"/>
                <a:cs typeface="Poppins SemiBold"/>
                <a:sym typeface="Poppins SemiBold"/>
              </a:rPr>
              <a:t>CONCLUSION</a:t>
            </a:r>
            <a:endParaRPr/>
          </a:p>
        </p:txBody>
      </p:sp>
      <p:sp>
        <p:nvSpPr>
          <p:cNvPr id="2" name="TextBox 1">
            <a:extLst>
              <a:ext uri="{FF2B5EF4-FFF2-40B4-BE49-F238E27FC236}">
                <a16:creationId xmlns:a16="http://schemas.microsoft.com/office/drawing/2014/main" id="{E59CF21C-D256-F414-F1D3-8358A6619C29}"/>
              </a:ext>
            </a:extLst>
          </p:cNvPr>
          <p:cNvSpPr txBox="1"/>
          <p:nvPr/>
        </p:nvSpPr>
        <p:spPr>
          <a:xfrm>
            <a:off x="365760" y="1171575"/>
            <a:ext cx="11530584" cy="8063746"/>
          </a:xfrm>
          <a:prstGeom prst="rect">
            <a:avLst/>
          </a:prstGeom>
          <a:noFill/>
        </p:spPr>
        <p:txBody>
          <a:bodyPr wrap="square" rtlCol="0">
            <a:spAutoFit/>
          </a:bodyPr>
          <a:lstStyle/>
          <a:p>
            <a:r>
              <a:rPr lang="en-IN" dirty="0"/>
              <a:t> </a:t>
            </a:r>
            <a:r>
              <a:rPr lang="en-IN" b="1" dirty="0"/>
              <a:t>Key Results and Findings</a:t>
            </a:r>
          </a:p>
          <a:p>
            <a:endParaRPr lang="en-IN" dirty="0"/>
          </a:p>
          <a:p>
            <a:pPr lvl="0"/>
            <a:r>
              <a:rPr lang="en-IN" b="1" dirty="0"/>
              <a:t>The Paradox Confirmed:</a:t>
            </a:r>
            <a:r>
              <a:rPr lang="en-IN" dirty="0"/>
              <a:t> Statistically proved that while </a:t>
            </a:r>
            <a:r>
              <a:rPr lang="en-IN" b="1" dirty="0"/>
              <a:t>78.5%</a:t>
            </a:r>
            <a:r>
              <a:rPr lang="en-IN" dirty="0"/>
              <a:t> of developers use AI daily, only </a:t>
            </a:r>
            <a:r>
              <a:rPr lang="en-IN" b="1" dirty="0"/>
              <a:t>3.1%</a:t>
            </a:r>
            <a:r>
              <a:rPr lang="en-IN" dirty="0"/>
              <a:t> maintain high trust in the output (chi^2 = 5,728.86, p &lt; 0.0001).</a:t>
            </a:r>
          </a:p>
          <a:p>
            <a:pPr lvl="0"/>
            <a:r>
              <a:rPr lang="en-IN" b="1" dirty="0"/>
              <a:t>The Seniority Gap:</a:t>
            </a:r>
            <a:r>
              <a:rPr lang="en-IN" dirty="0"/>
              <a:t> Discovered that expertise is a driver of </a:t>
            </a:r>
            <a:r>
              <a:rPr lang="en-IN" dirty="0" err="1"/>
              <a:t>skepticism</a:t>
            </a:r>
            <a:r>
              <a:rPr lang="en-IN" dirty="0"/>
              <a:t>; senior developers (10+ years) exhibit significantly higher </a:t>
            </a:r>
            <a:r>
              <a:rPr lang="en-IN" b="1" dirty="0"/>
              <a:t>"Verification Fatigue"</a:t>
            </a:r>
            <a:r>
              <a:rPr lang="en-IN" dirty="0"/>
              <a:t> than junior peers.</a:t>
            </a:r>
          </a:p>
          <a:p>
            <a:pPr lvl="0"/>
            <a:r>
              <a:rPr lang="en-IN" b="1" dirty="0"/>
              <a:t>Complexity Penalty:</a:t>
            </a:r>
            <a:r>
              <a:rPr lang="en-IN" dirty="0"/>
              <a:t> Found that developers using </a:t>
            </a:r>
            <a:r>
              <a:rPr lang="en-IN" b="1" dirty="0"/>
              <a:t>4+ tools</a:t>
            </a:r>
            <a:r>
              <a:rPr lang="en-IN" dirty="0"/>
              <a:t> report a </a:t>
            </a:r>
            <a:r>
              <a:rPr lang="en-IN" b="1" dirty="0"/>
              <a:t>47.5% distrust rate</a:t>
            </a:r>
            <a:r>
              <a:rPr lang="en-IN" dirty="0"/>
              <a:t>, proving that increased exposure to AI models highlights more failure modes.</a:t>
            </a:r>
          </a:p>
          <a:p>
            <a:pPr lvl="0"/>
            <a:r>
              <a:rPr lang="en-IN" b="1" dirty="0"/>
              <a:t>Emotional vs. Analytical Split:</a:t>
            </a:r>
            <a:r>
              <a:rPr lang="en-IN" dirty="0"/>
              <a:t> A </a:t>
            </a:r>
            <a:r>
              <a:rPr lang="en-IN" b="1" dirty="0"/>
              <a:t>28.4% sentiment gap</a:t>
            </a:r>
            <a:r>
              <a:rPr lang="en-IN" dirty="0"/>
              <a:t> exists where developers enjoy tool convenience but fundamentally doubt the underlying logic.</a:t>
            </a:r>
          </a:p>
          <a:p>
            <a:pPr lvl="0"/>
            <a:endParaRPr lang="en-IN" dirty="0"/>
          </a:p>
          <a:p>
            <a:r>
              <a:rPr lang="en-IN" b="1" dirty="0"/>
              <a:t>Overall Impact:</a:t>
            </a:r>
            <a:endParaRPr lang="en-IN" dirty="0"/>
          </a:p>
          <a:p>
            <a:pPr lvl="0"/>
            <a:r>
              <a:rPr lang="en-IN" dirty="0"/>
              <a:t>Shifted the focus of AI evaluation from </a:t>
            </a:r>
            <a:r>
              <a:rPr lang="en-IN" b="1" dirty="0"/>
              <a:t>"Technical Benchmarks"</a:t>
            </a:r>
            <a:r>
              <a:rPr lang="en-IN" dirty="0"/>
              <a:t> to </a:t>
            </a:r>
            <a:r>
              <a:rPr lang="en-IN" b="1" dirty="0"/>
              <a:t>"Human-Centric Sentiment,"</a:t>
            </a:r>
            <a:r>
              <a:rPr lang="en-IN" dirty="0"/>
              <a:t> identifying trust as the primary bottleneck for long-term AI ROI.</a:t>
            </a:r>
          </a:p>
          <a:p>
            <a:pPr lvl="0"/>
            <a:r>
              <a:rPr lang="en-IN" dirty="0"/>
              <a:t>Demonstrated a "circular" use case of AI: using Generative AI tools to </a:t>
            </a:r>
            <a:r>
              <a:rPr lang="en-IN" dirty="0" err="1"/>
              <a:t>analyze</a:t>
            </a:r>
            <a:r>
              <a:rPr lang="en-IN" dirty="0"/>
              <a:t> and explain the very paradoxes they have created in the workforce.</a:t>
            </a:r>
          </a:p>
          <a:p>
            <a:endParaRPr lang="en-IN" b="1" dirty="0"/>
          </a:p>
          <a:p>
            <a:r>
              <a:rPr lang="en-IN" b="1" dirty="0"/>
              <a:t>Value Added to the Domain:</a:t>
            </a:r>
            <a:endParaRPr lang="en-IN" dirty="0"/>
          </a:p>
          <a:p>
            <a:pPr lvl="0"/>
            <a:r>
              <a:rPr lang="en-IN" dirty="0"/>
              <a:t>Provides organizations with a </a:t>
            </a:r>
            <a:r>
              <a:rPr lang="en-IN" b="1" dirty="0"/>
              <a:t>human-centric metric</a:t>
            </a:r>
            <a:r>
              <a:rPr lang="en-IN" dirty="0"/>
              <a:t> for AI success, moving beyond adoption numbers to address technical debt and developer burnout. Offers a strategic blueprint for moving teams from </a:t>
            </a:r>
            <a:r>
              <a:rPr lang="en-IN" b="1" dirty="0"/>
              <a:t>"Forced Adoption"</a:t>
            </a:r>
            <a:r>
              <a:rPr lang="en-IN" dirty="0"/>
              <a:t> (using tools they distrust) to </a:t>
            </a:r>
            <a:r>
              <a:rPr lang="en-IN" b="1" dirty="0"/>
              <a:t>"Informed Trust"</a:t>
            </a:r>
            <a:r>
              <a:rPr lang="en-IN" dirty="0"/>
              <a:t> by focusing on output transparency and verification efficiency.</a:t>
            </a:r>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a:extLst>
            <a:ext uri="{FF2B5EF4-FFF2-40B4-BE49-F238E27FC236}">
              <a16:creationId xmlns:a16="http://schemas.microsoft.com/office/drawing/2014/main" id="{60FD3992-CF54-65B6-D9E1-E4C43C7AF6D1}"/>
            </a:ext>
          </a:extLst>
        </p:cNvPr>
        <p:cNvGrpSpPr/>
        <p:nvPr/>
      </p:nvGrpSpPr>
      <p:grpSpPr>
        <a:xfrm>
          <a:off x="0" y="0"/>
          <a:ext cx="0" cy="0"/>
          <a:chOff x="0" y="0"/>
          <a:chExt cx="0" cy="0"/>
        </a:xfrm>
      </p:grpSpPr>
      <p:pic>
        <p:nvPicPr>
          <p:cNvPr id="246" name="Google Shape;246;p23" descr="image.png">
            <a:extLst>
              <a:ext uri="{FF2B5EF4-FFF2-40B4-BE49-F238E27FC236}">
                <a16:creationId xmlns:a16="http://schemas.microsoft.com/office/drawing/2014/main" id="{3016A6E2-9079-3C2F-9891-021BD89214D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7" name="Google Shape;247;p23" descr="image.png">
            <a:extLst>
              <a:ext uri="{FF2B5EF4-FFF2-40B4-BE49-F238E27FC236}">
                <a16:creationId xmlns:a16="http://schemas.microsoft.com/office/drawing/2014/main" id="{C35F109D-730F-406E-1217-924A728F861A}"/>
              </a:ext>
            </a:extLst>
          </p:cNvPr>
          <p:cNvPicPr preferRelativeResize="0"/>
          <p:nvPr/>
        </p:nvPicPr>
        <p:blipFill rotWithShape="1">
          <a:blip r:embed="rId4">
            <a:alphaModFix/>
          </a:blip>
          <a:srcRect/>
          <a:stretch/>
        </p:blipFill>
        <p:spPr>
          <a:xfrm>
            <a:off x="6381750" y="1552575"/>
            <a:ext cx="5238750" cy="4572000"/>
          </a:xfrm>
          <a:prstGeom prst="rect">
            <a:avLst/>
          </a:prstGeom>
          <a:noFill/>
          <a:ln>
            <a:noFill/>
          </a:ln>
        </p:spPr>
      </p:pic>
      <p:sp>
        <p:nvSpPr>
          <p:cNvPr id="252" name="Google Shape;252;p23">
            <a:extLst>
              <a:ext uri="{FF2B5EF4-FFF2-40B4-BE49-F238E27FC236}">
                <a16:creationId xmlns:a16="http://schemas.microsoft.com/office/drawing/2014/main" id="{5E252681-0451-AA7D-4759-0534957FE590}"/>
              </a:ext>
            </a:extLst>
          </p:cNvPr>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dirty="0">
                <a:solidFill>
                  <a:srgbClr val="1B3A6B"/>
                </a:solidFill>
                <a:latin typeface="Poppins SemiBold"/>
                <a:cs typeface="Poppins SemiBold"/>
                <a:sym typeface="Poppins SemiBold"/>
              </a:rPr>
              <a:t>Future Scope</a:t>
            </a:r>
            <a:endParaRPr dirty="0"/>
          </a:p>
        </p:txBody>
      </p:sp>
      <p:sp>
        <p:nvSpPr>
          <p:cNvPr id="2" name="TextBox 1">
            <a:extLst>
              <a:ext uri="{FF2B5EF4-FFF2-40B4-BE49-F238E27FC236}">
                <a16:creationId xmlns:a16="http://schemas.microsoft.com/office/drawing/2014/main" id="{4DBF3F75-3519-2061-A4AA-D87DCAE37DC3}"/>
              </a:ext>
            </a:extLst>
          </p:cNvPr>
          <p:cNvSpPr txBox="1"/>
          <p:nvPr/>
        </p:nvSpPr>
        <p:spPr>
          <a:xfrm>
            <a:off x="365760" y="1171575"/>
            <a:ext cx="11530584" cy="3323987"/>
          </a:xfrm>
          <a:prstGeom prst="rect">
            <a:avLst/>
          </a:prstGeom>
          <a:noFill/>
        </p:spPr>
        <p:txBody>
          <a:bodyPr wrap="square" rtlCol="0">
            <a:spAutoFit/>
          </a:bodyPr>
          <a:lstStyle/>
          <a:p>
            <a:r>
              <a:rPr lang="en-IN" dirty="0"/>
              <a:t> </a:t>
            </a:r>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a:p>
            <a:pPr lvl="0"/>
            <a:endParaRPr lang="en-IN" dirty="0"/>
          </a:p>
        </p:txBody>
      </p:sp>
      <p:sp>
        <p:nvSpPr>
          <p:cNvPr id="6" name="TextBox 5">
            <a:extLst>
              <a:ext uri="{FF2B5EF4-FFF2-40B4-BE49-F238E27FC236}">
                <a16:creationId xmlns:a16="http://schemas.microsoft.com/office/drawing/2014/main" id="{F729104E-E627-7586-6C8A-260F378981C0}"/>
              </a:ext>
            </a:extLst>
          </p:cNvPr>
          <p:cNvSpPr txBox="1"/>
          <p:nvPr/>
        </p:nvSpPr>
        <p:spPr>
          <a:xfrm>
            <a:off x="660654" y="1494910"/>
            <a:ext cx="10476738" cy="2800767"/>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IN" sz="1600" b="1" dirty="0">
                <a:effectLst/>
                <a:latin typeface="+mn-lt"/>
                <a:ea typeface="Times New Roman" panose="02020603050405020304" pitchFamily="18" charset="0"/>
              </a:rPr>
              <a:t>Longitudinal Panel Study:</a:t>
            </a:r>
            <a:r>
              <a:rPr lang="en-IN" sz="1600" dirty="0">
                <a:effectLst/>
                <a:latin typeface="+mn-lt"/>
                <a:ea typeface="Times New Roman" panose="02020603050405020304" pitchFamily="18" charset="0"/>
              </a:rPr>
              <a:t> Track the same developer cohort over three consecutive </a:t>
            </a:r>
            <a:r>
              <a:rPr lang="en-IN" sz="1600" dirty="0">
                <a:latin typeface="+mn-lt"/>
                <a:ea typeface="Times New Roman" panose="02020603050405020304" pitchFamily="18" charset="0"/>
              </a:rPr>
              <a:t>surveys</a:t>
            </a:r>
            <a:r>
              <a:rPr lang="en-IN" sz="1600" dirty="0">
                <a:effectLst/>
                <a:latin typeface="+mn-lt"/>
                <a:ea typeface="Times New Roman" panose="02020603050405020304" pitchFamily="18" charset="0"/>
              </a:rPr>
              <a:t> to establish whether adoption drives distrust or vice versa via causal inference.</a:t>
            </a:r>
          </a:p>
          <a:p>
            <a:pPr lvl="0">
              <a:buSzPts val="1000"/>
              <a:tabLst>
                <a:tab pos="457200" algn="l"/>
              </a:tabLst>
            </a:pPr>
            <a:endParaRPr lang="en-IN" sz="1600" dirty="0">
              <a:effectLst/>
              <a:latin typeface="+mn-lt"/>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b="1" dirty="0">
                <a:effectLst/>
                <a:latin typeface="+mn-lt"/>
                <a:ea typeface="Times New Roman" panose="02020603050405020304" pitchFamily="18" charset="0"/>
              </a:rPr>
              <a:t>Structural Equation </a:t>
            </a:r>
            <a:r>
              <a:rPr lang="en-IN" sz="1600" b="1" dirty="0" err="1">
                <a:effectLst/>
                <a:latin typeface="+mn-lt"/>
                <a:ea typeface="Times New Roman" panose="02020603050405020304" pitchFamily="18" charset="0"/>
              </a:rPr>
              <a:t>Modeling</a:t>
            </a:r>
            <a:r>
              <a:rPr lang="en-IN" sz="1600" b="1" dirty="0">
                <a:effectLst/>
                <a:latin typeface="+mn-lt"/>
                <a:ea typeface="Times New Roman" panose="02020603050405020304" pitchFamily="18" charset="0"/>
              </a:rPr>
              <a:t> (SEM):</a:t>
            </a:r>
            <a:r>
              <a:rPr lang="en-IN" sz="1600" dirty="0">
                <a:effectLst/>
                <a:latin typeface="+mn-lt"/>
                <a:ea typeface="Times New Roman" panose="02020603050405020304" pitchFamily="18" charset="0"/>
              </a:rPr>
              <a:t> Apply SEM to test the integrated TAM-CDT-JD-R model, confirming mediation and moderation paths (Expertise, Geography) simultaneously.</a:t>
            </a:r>
          </a:p>
          <a:p>
            <a:pPr lvl="0">
              <a:buSzPts val="1000"/>
              <a:tabLst>
                <a:tab pos="457200" algn="l"/>
              </a:tabLst>
            </a:pPr>
            <a:endParaRPr lang="en-IN" sz="1600" dirty="0">
              <a:effectLst/>
              <a:latin typeface="+mn-lt"/>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b="1" dirty="0">
                <a:effectLst/>
                <a:latin typeface="+mn-lt"/>
                <a:ea typeface="Times New Roman" panose="02020603050405020304" pitchFamily="18" charset="0"/>
              </a:rPr>
              <a:t>Qualitative Deep-Dive:</a:t>
            </a:r>
            <a:r>
              <a:rPr lang="en-IN" sz="1600" dirty="0">
                <a:effectLst/>
                <a:latin typeface="+mn-lt"/>
                <a:ea typeface="Times New Roman" panose="02020603050405020304" pitchFamily="18" charset="0"/>
              </a:rPr>
              <a:t> Conduct 20–30 in-depth interviews to understand the "lived experience" of the paradox and how developers rationalize daily use despite professional scepticism.</a:t>
            </a:r>
          </a:p>
          <a:p>
            <a:pPr lvl="0">
              <a:buSzPts val="1000"/>
              <a:tabLst>
                <a:tab pos="457200" algn="l"/>
              </a:tabLst>
            </a:pPr>
            <a:endParaRPr lang="en-IN" sz="1600" dirty="0">
              <a:effectLst/>
              <a:latin typeface="+mn-lt"/>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600" b="1" dirty="0">
                <a:effectLst/>
                <a:latin typeface="+mn-lt"/>
                <a:ea typeface="Times New Roman" panose="02020603050405020304" pitchFamily="18" charset="0"/>
              </a:rPr>
              <a:t>Real-Time Monitoring Ecosystem:</a:t>
            </a:r>
            <a:r>
              <a:rPr lang="en-IN" sz="1600" dirty="0">
                <a:effectLst/>
                <a:latin typeface="+mn-lt"/>
                <a:ea typeface="Times New Roman" panose="02020603050405020304" pitchFamily="18" charset="0"/>
              </a:rPr>
              <a:t> Deploy a Power Automate pipeline to auto-refresh the analytical dashboard as future survey datasets are released.</a:t>
            </a:r>
          </a:p>
        </p:txBody>
      </p:sp>
    </p:spTree>
    <p:extLst>
      <p:ext uri="{BB962C8B-B14F-4D97-AF65-F5344CB8AC3E}">
        <p14:creationId xmlns:p14="http://schemas.microsoft.com/office/powerpoint/2010/main" val="428428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pic>
        <p:nvPicPr>
          <p:cNvPr id="273" name="Google Shape;273;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4" name="Google Shape;274;p25" descr="image.png"/>
          <p:cNvPicPr preferRelativeResize="0"/>
          <p:nvPr/>
        </p:nvPicPr>
        <p:blipFill rotWithShape="1">
          <a:blip r:embed="rId4">
            <a:alphaModFix/>
          </a:blip>
          <a:srcRect/>
          <a:stretch/>
        </p:blipFill>
        <p:spPr>
          <a:xfrm>
            <a:off x="3100387" y="2775495"/>
            <a:ext cx="5991225" cy="838200"/>
          </a:xfrm>
          <a:prstGeom prst="rect">
            <a:avLst/>
          </a:prstGeom>
          <a:noFill/>
          <a:ln>
            <a:noFill/>
          </a:ln>
        </p:spPr>
      </p:pic>
      <p:sp>
        <p:nvSpPr>
          <p:cNvPr id="275" name="Google Shape;275;p25"/>
          <p:cNvSpPr txBox="1"/>
          <p:nvPr/>
        </p:nvSpPr>
        <p:spPr>
          <a:xfrm>
            <a:off x="4145756" y="571500"/>
            <a:ext cx="3900487" cy="1028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1B3A6B"/>
                </a:solidFill>
                <a:latin typeface="Poppins"/>
                <a:ea typeface="Poppins"/>
                <a:cs typeface="Poppins"/>
                <a:sym typeface="Poppins"/>
              </a:rPr>
              <a:t>Thank You</a:t>
            </a:r>
            <a:endParaRPr/>
          </a:p>
        </p:txBody>
      </p:sp>
      <p:sp>
        <p:nvSpPr>
          <p:cNvPr id="277" name="Google Shape;277;p25"/>
          <p:cNvSpPr txBox="1"/>
          <p:nvPr/>
        </p:nvSpPr>
        <p:spPr>
          <a:xfrm>
            <a:off x="1909762" y="4185195"/>
            <a:ext cx="8372475" cy="33337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b="1" i="0" u="none" strike="noStrike" cap="none">
                <a:solidFill>
                  <a:srgbClr val="94A3B8"/>
                </a:solidFill>
                <a:latin typeface="Inter"/>
                <a:ea typeface="Inter"/>
                <a:cs typeface="Inter"/>
                <a:sym typeface="Inter"/>
              </a:rPr>
              <a:t>AICW FELLOWSHIP 2026</a:t>
            </a:r>
            <a:r>
              <a:rPr lang="en-US" sz="1200" b="0" i="0" u="none" strike="noStrike" cap="none">
                <a:solidFill>
                  <a:srgbClr val="000000"/>
                </a:solidFill>
                <a:latin typeface="Inter"/>
                <a:ea typeface="Inter"/>
                <a:cs typeface="Inter"/>
                <a:sym typeface="Inter"/>
              </a:rPr>
              <a:t> </a:t>
            </a:r>
            <a:r>
              <a:rPr lang="en-US" sz="1200" b="1" i="0" u="none" strike="noStrike" cap="none">
                <a:solidFill>
                  <a:srgbClr val="94A3B8"/>
                </a:solidFill>
                <a:latin typeface="Inter"/>
                <a:ea typeface="Inter"/>
                <a:cs typeface="Inter"/>
                <a:sym typeface="Inter"/>
              </a:rPr>
              <a:t> Edunet Foundation</a:t>
            </a:r>
            <a:r>
              <a:rPr lang="en-US" sz="1200" b="0" i="0" u="none" strike="noStrike" cap="none">
                <a:solidFill>
                  <a:srgbClr val="000000"/>
                </a:solidFill>
                <a:latin typeface="Inter"/>
                <a:ea typeface="Inter"/>
                <a:cs typeface="Inter"/>
                <a:sym typeface="Inter"/>
              </a:rPr>
              <a:t> </a:t>
            </a:r>
            <a:r>
              <a:rPr lang="en-US" sz="1200" b="1" i="0" u="none" strike="noStrike" cap="none">
                <a:solidFill>
                  <a:srgbClr val="94A3B8"/>
                </a:solidFill>
                <a:latin typeface="Inter"/>
                <a:ea typeface="Inter"/>
                <a:cs typeface="Inter"/>
                <a:sym typeface="Inter"/>
              </a:rPr>
              <a:t> LinkedIn</a:t>
            </a:r>
            <a:endParaRPr/>
          </a:p>
        </p:txBody>
      </p:sp>
      <p:sp>
        <p:nvSpPr>
          <p:cNvPr id="279" name="Google Shape;279;p25"/>
          <p:cNvSpPr txBox="1"/>
          <p:nvPr/>
        </p:nvSpPr>
        <p:spPr>
          <a:xfrm>
            <a:off x="4062411" y="3095253"/>
            <a:ext cx="4400413" cy="230832"/>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500" dirty="0">
                <a:solidFill>
                  <a:srgbClr val="1E293B"/>
                </a:solidFill>
                <a:latin typeface="Inter Medium"/>
                <a:ea typeface="Inter Medium"/>
                <a:sym typeface="Inter Medium"/>
              </a:rPr>
              <a:t>Chandniarora0007@gmail.com</a:t>
            </a:r>
            <a:endParaRPr dirty="0"/>
          </a:p>
        </p:txBody>
      </p:sp>
      <p:pic>
        <p:nvPicPr>
          <p:cNvPr id="280" name="Google Shape;280;p25" descr="image.png"/>
          <p:cNvPicPr preferRelativeResize="0"/>
          <p:nvPr/>
        </p:nvPicPr>
        <p:blipFill rotWithShape="1">
          <a:blip r:embed="rId5">
            <a:alphaModFix/>
          </a:blip>
          <a:srcRect/>
          <a:stretch/>
        </p:blipFill>
        <p:spPr>
          <a:xfrm>
            <a:off x="4976812" y="4313783"/>
            <a:ext cx="76200" cy="76200"/>
          </a:xfrm>
          <a:prstGeom prst="rect">
            <a:avLst/>
          </a:prstGeom>
          <a:noFill/>
          <a:ln>
            <a:noFill/>
          </a:ln>
        </p:spPr>
      </p:pic>
      <p:pic>
        <p:nvPicPr>
          <p:cNvPr id="281" name="Google Shape;281;p25" descr="image.png"/>
          <p:cNvPicPr preferRelativeResize="0"/>
          <p:nvPr/>
        </p:nvPicPr>
        <p:blipFill rotWithShape="1">
          <a:blip r:embed="rId5">
            <a:alphaModFix/>
          </a:blip>
          <a:srcRect/>
          <a:stretch/>
        </p:blipFill>
        <p:spPr>
          <a:xfrm>
            <a:off x="8558212" y="4313783"/>
            <a:ext cx="76200" cy="76200"/>
          </a:xfrm>
          <a:prstGeom prst="rect">
            <a:avLst/>
          </a:prstGeom>
          <a:noFill/>
          <a:ln>
            <a:noFill/>
          </a:ln>
        </p:spPr>
      </p:pic>
      <p:pic>
        <p:nvPicPr>
          <p:cNvPr id="283" name="Google Shape;283;p25" descr="image.png"/>
          <p:cNvPicPr preferRelativeResize="0"/>
          <p:nvPr/>
        </p:nvPicPr>
        <p:blipFill rotWithShape="1">
          <a:blip r:embed="rId6">
            <a:alphaModFix/>
          </a:blip>
          <a:srcRect/>
          <a:stretch/>
        </p:blipFill>
        <p:spPr>
          <a:xfrm>
            <a:off x="3448049" y="3059385"/>
            <a:ext cx="266700" cy="266700"/>
          </a:xfrm>
          <a:prstGeom prst="rect">
            <a:avLst/>
          </a:prstGeom>
          <a:noFill/>
          <a:ln>
            <a:noFill/>
          </a:ln>
        </p:spPr>
      </p:pic>
      <p:pic>
        <p:nvPicPr>
          <p:cNvPr id="284" name="Google Shape;284;p25" descr="image.png"/>
          <p:cNvPicPr preferRelativeResize="0"/>
          <p:nvPr/>
        </p:nvPicPr>
        <p:blipFill rotWithShape="1">
          <a:blip r:embed="rId7">
            <a:alphaModFix/>
          </a:blip>
          <a:srcRect/>
          <a:stretch/>
        </p:blipFill>
        <p:spPr>
          <a:xfrm>
            <a:off x="5434012" y="4232820"/>
            <a:ext cx="228600" cy="228600"/>
          </a:xfrm>
          <a:prstGeom prst="rect">
            <a:avLst/>
          </a:prstGeom>
          <a:noFill/>
          <a:ln>
            <a:noFill/>
          </a:ln>
        </p:spPr>
      </p:pic>
      <p:pic>
        <p:nvPicPr>
          <p:cNvPr id="285" name="Google Shape;285;p25" descr="image.png"/>
          <p:cNvPicPr preferRelativeResize="0"/>
          <p:nvPr/>
        </p:nvPicPr>
        <p:blipFill rotWithShape="1">
          <a:blip r:embed="rId8">
            <a:alphaModFix/>
          </a:blip>
          <a:srcRect/>
          <a:stretch/>
        </p:blipFill>
        <p:spPr>
          <a:xfrm>
            <a:off x="9015412" y="4232820"/>
            <a:ext cx="200025" cy="228600"/>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1742</Words>
  <Application>Microsoft Office PowerPoint</Application>
  <PresentationFormat>Widescreen</PresentationFormat>
  <Paragraphs>156</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Inter</vt:lpstr>
      <vt:lpstr>Calibri</vt:lpstr>
      <vt:lpstr>Arial</vt:lpstr>
      <vt:lpstr>Lato</vt:lpstr>
      <vt:lpstr>Inter SemiBold</vt:lpstr>
      <vt:lpstr>Poppins</vt:lpstr>
      <vt:lpstr>Poppins SemiBold</vt:lpstr>
      <vt:lpstr>Inter Medium</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Chandni</dc:creator>
  <cp:lastModifiedBy>chandni rani</cp:lastModifiedBy>
  <cp:revision>5</cp:revision>
  <dcterms:modified xsi:type="dcterms:W3CDTF">2026-04-15T19:05:07Z</dcterms:modified>
</cp:coreProperties>
</file>